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6170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my name is Shibu. My edX username is shibu1982, and my GitHub username is shibusbe. I am recording this presentation on [say the actual recording date]. This project examines exploitation reported in November 2025 involving Cisco Identity Services Engine, CVE-2025-20337, and Citrix NetScaler, CVE-2025-5777. I chose this case because identity systems and remote-access gateways sit on critical security boundaries. A failure in either can undermine controls that an organisation relies on to protect its network. This case connects directly to CS50 Cybersecurity topics including vulnerability management, authentication, input validation, secure software, and incident response.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central source for this presentation is Amazon's security report published on 12 November 2025. Amazon said its MadPot honeypot infrastructure detected exploitation attempts against Citrix NetScaler before CVE-2025-5777 was publicly disclosed. During the investigation of that activity, Amazon identified a payload targeting an undocumented endpoint in Cisco Identity Services Engine. The payload took advantage of vulnerable deserialization logic. Cisco's advisory covering CVE-2025-20337 was first published on 25 June 2025; Amazon's November report added detail about observed exploitation and the attacker's custom tooling. Amazon also reported a custom web shell on compromised ISE systems. The report documents observed exploitation and attacker tooling; it does not establish that every potentially vulnerable installation was compromised.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the technology. Cisco Identity Services Engine, or ISE, is an identity and network-access policy platform. Organisations use it to apply access decisions based on users, devices, and policy. If an attacker gains administrator-level control of ISE, the attacker may be able to undermine trust in network access decisions or use the system as a platform for further activity. Citrix NetScaler ADC and NetScaler Gateway are used for application delivery and remote access. Depending on configuration, they can provide VPN, ICA Proxy, clientless VPN, RDP Proxy, or AAA services. These appliances are attractive targets because they often face the internet and handle sensitive authentication or session traffic. The lesson is that security appliances themselves must be treated as high-value assets and hardened, monitored, and patched like any other critical system.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CVE-2025-5777 affects Citrix NetScaler ADC and NetScaler Gateway in qualifying configurations. The vendor describes insufficient input validation that can lead to a memory overread, also described as an out-of-bounds read. In simple terms, software receives input that it does not validate correctly and may read memory outside the intended boundary. Depending on what is exposed in memory and how the vulnerable code is reached, this can create serious confidentiality and security risks. Citrix assigned a CVSS version 4 score of 9.3, Critical. The vendor bulletin says the issue applies when NetScaler is configured as a Gateway or AAA virtual server, with configurations including VPN virtual server, ICA Proxy, clientless VPN, RDP Proxy, or AAA. The bulletin lists fixed builds such as 14.1-43.56 and 13.1-58.32, but administrators must check the exact release family and current vendor guidance rather than copy a version number blindly. NIST also notes that this CVE is in CISA's Known Exploited Vulnerabilities catalog.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Cisco issue is especially severe because Cisco describes it as an unauthenticated remote code execution vulnerability. The root cause is insufficient validation of user-supplied input in a specific API. A remote attacker does not need valid credentials to exploit the flaw and could execute commands on the underlying operating system with root privileges. Cisco assigned a CVSS version 3.1 base score of 10.0, the maximum score. Cisco's advisory identifies ISE and ISE Passive Identity Connector releases 3.3 and 3.4 as affected regardless of device configuration; releases 3.2 and earlier are not affected by this particular CVE. Cisco's updated advisory recommends enhanced fixed releases: 3.3 Patch 7 and 3.4 Patch 2 for this CVE. Administrators should consult the current official advisory and upgrade guidance, especially because Cisco updated its recommended fixes after the initial publication. There were no workarounds that addressed the vulnerability.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 high-level attack chain, not a reproduction guide. First, the threat actor targeted internet-accessible appliances. Amazon's honeypot observed the NetScaler exploitation attempts before disclosure. Second, crafted requests reached vulnerable code paths. For NetScaler, the documented flaw involved a memory overread. For Cisco ISE, the flaw allowed unauthenticated remote code execution as root. Third, Amazon reported that the actor deployed a custom web shell on compromised ISE systems, disguising it as a legitimate component called IdentityAuditAction. Amazon described the shell as operating in memory, using Java reflection to inject into running threads, listening for HTTP requests in the Tomcat server, and requiring specific HTTP headers to access it. These details matter because conventional file-based detection might miss an in-memory implant. I am presenting the published observations at a conceptual level and not giving exploit instructions. The report does not mean every attack followed an identical sequence, and defenders should use vendor and incident-response guidance when investigating suspected compromise.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potential impact is broader than the initial software bug. If a security appliance is compromised, it may affect availability of access services, confidentiality of data handled by the appliance, and the integrity of authentication or access-control decisions. Root access on ISE is particularly concerning because it can undermine confidence in the system's configuration and operation. A memory overread may expose sensitive data from process memory, although the exact impact depends on what is in memory and how the flaw is exploited. The custom in-memory web shell described by Amazon also creates a detection challenge: defenders cannot rely only on finding a suspicious executable on disk. At the same time, it is important not to overstate the evidence. An internet-exposed device is not automatically compromised. Teams need to correlate version and exposure data with logs, indicators, network activity, and vendor incident-response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recommend six defensive actions. First, patch promptly to the vendor-confirmed fixed releases and verify every appliance, cluster node, high-availability pair, and standby device. A patch on one node is not sufficient if another remains vulnerable. Second, reduce exposure. Management interfaces and privileged endpoints should be reachable only from trusted administration networks, through layered access controls. Third, maintain an accurate inventory of versions, configurations, ownership, and end-of-life status. Fourth, monitor and hunt for suspicious activity, including unusual API requests, authentication events, unexpected processes or Java threads, unfamiliar accounts, and unexplained outbound connections. Fifth, if compromise is suspected, preserve logs and evidence, follow Cisco and Citrix incident-response guidance, and assess whether credentials or secrets need to be rotated. A simple patch does not automatically prove that a previously compromised appliance is clean. Finally, organisations should rehearse emergency patching and rollback procedures so a critical fix can be deployed quickly without losing track of assets.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this case demonstrates that attackers target the infrastructure that enforces security, not just user-facing applications. It also shows why secure input handling, safe deserialization, rapid patching, exposure reduction, and strong monitoring must work together. A vulnerability announcement is the start of a response process, not the end: teams must identify affected assets, remediate, and then check for signs of earlier exploitation. My main takeaway is that security controls are only trustworthy when the systems implementing them are themselves protected. The main references are Amazon's November 2025 incident report, Cisco's Product Security Advisory for CVE-2025-20337, Citrix's security bulletin for CVE-2025-5777, and the NIST National Vulnerability Database. Thank you for listening.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01</a:t>
            </a:r>
          </a:p>
        </p:txBody>
      </p:sp>
      <p:sp>
        <p:nvSpPr>
          <p:cNvPr id="5" name="TextBox 4"/>
          <p:cNvSpPr txBox="1"/>
          <p:nvPr/>
        </p:nvSpPr>
        <p:spPr>
          <a:xfrm>
            <a:off x="658368" y="594360"/>
            <a:ext cx="10881360" cy="1097280"/>
          </a:xfrm>
          <a:prstGeom prst="rect">
            <a:avLst/>
          </a:prstGeom>
          <a:noFill/>
        </p:spPr>
        <p:txBody>
          <a:bodyPr wrap="square" lIns="27432" tIns="18288" rIns="27432" bIns="18288">
            <a:spAutoFit/>
          </a:bodyPr>
          <a:lstStyle/>
          <a:p>
            <a:r>
              <a:rPr sz="3000" b="1">
                <a:solidFill>
                  <a:srgbClr val="0F213A"/>
                </a:solidFill>
                <a:latin typeface="Aptos"/>
              </a:rPr>
              <a:t>Cisco ISE &amp; Citrix NetScaler: Two Zero-Days, One Security Lesson</a:t>
            </a:r>
          </a:p>
        </p:txBody>
      </p:sp>
      <p:sp>
        <p:nvSpPr>
          <p:cNvPr id="6" name="TextBox 5"/>
          <p:cNvSpPr txBox="1"/>
          <p:nvPr/>
        </p:nvSpPr>
        <p:spPr>
          <a:xfrm>
            <a:off x="685800" y="1783080"/>
            <a:ext cx="10789920" cy="502920"/>
          </a:xfrm>
          <a:prstGeom prst="rect">
            <a:avLst/>
          </a:prstGeom>
          <a:noFill/>
        </p:spPr>
        <p:txBody>
          <a:bodyPr wrap="square" lIns="27432" tIns="18288" rIns="27432" bIns="18288">
            <a:spAutoFit/>
          </a:bodyPr>
          <a:lstStyle/>
          <a:p>
            <a:r>
              <a:rPr sz="1700" b="1">
                <a:solidFill>
                  <a:srgbClr val="0099BE"/>
                </a:solidFill>
                <a:latin typeface="Aptos"/>
              </a:rPr>
              <a:t>CS50 Cybersecurity Final Project | Real-world exploitation reported 12 November 2025</a:t>
            </a:r>
          </a:p>
        </p:txBody>
      </p:sp>
      <p:sp>
        <p:nvSpPr>
          <p:cNvPr id="7" name="Rounded Rectangle 6"/>
          <p:cNvSpPr/>
          <p:nvPr/>
        </p:nvSpPr>
        <p:spPr>
          <a:xfrm>
            <a:off x="685800" y="2514600"/>
            <a:ext cx="10744200" cy="658368"/>
          </a:xfrm>
          <a:prstGeom prst="roundRect">
            <a:avLst/>
          </a:prstGeom>
          <a:solidFill>
            <a:srgbClr val="EFF7FA"/>
          </a:solidFill>
          <a:ln>
            <a:solidFill>
              <a:srgbClr val="EF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651760"/>
            <a:ext cx="10241280" cy="329184"/>
          </a:xfrm>
          <a:prstGeom prst="rect">
            <a:avLst/>
          </a:prstGeom>
          <a:noFill/>
        </p:spPr>
        <p:txBody>
          <a:bodyPr wrap="square" lIns="27432" tIns="18288" rIns="27432" bIns="18288">
            <a:spAutoFit/>
          </a:bodyPr>
          <a:lstStyle/>
          <a:p>
            <a:r>
              <a:rPr sz="1900" b="1">
                <a:solidFill>
                  <a:srgbClr val="0F213A"/>
                </a:solidFill>
                <a:latin typeface="Aptos"/>
              </a:rPr>
              <a:t>CVE-2025-20337  |  CVE-2025-5777</a:t>
            </a:r>
          </a:p>
        </p:txBody>
      </p:sp>
      <p:sp>
        <p:nvSpPr>
          <p:cNvPr id="9" name="TextBox 8"/>
          <p:cNvSpPr txBox="1"/>
          <p:nvPr/>
        </p:nvSpPr>
        <p:spPr>
          <a:xfrm>
            <a:off x="822960" y="3429000"/>
            <a:ext cx="10789920" cy="267766"/>
          </a:xfrm>
          <a:prstGeom prst="rect">
            <a:avLst/>
          </a:prstGeom>
          <a:noFill/>
        </p:spPr>
        <p:txBody>
          <a:bodyPr wrap="square" lIns="27432" tIns="18288" rIns="27432" bIns="18288">
            <a:spAutoFit/>
          </a:bodyPr>
          <a:lstStyle/>
          <a:p>
            <a:r>
              <a:rPr sz="1500" b="1" dirty="0">
                <a:solidFill>
                  <a:srgbClr val="25303D"/>
                </a:solidFill>
                <a:latin typeface="Aptos"/>
              </a:rPr>
              <a:t>Presenter: Shibu</a:t>
            </a:r>
            <a:r>
              <a:rPr lang="en-IN" sz="1500" b="1" dirty="0">
                <a:solidFill>
                  <a:srgbClr val="25303D"/>
                </a:solidFill>
                <a:latin typeface="Aptos"/>
              </a:rPr>
              <a:t> S</a:t>
            </a:r>
            <a:endParaRPr sz="1500" b="1" dirty="0">
              <a:solidFill>
                <a:srgbClr val="25303D"/>
              </a:solidFill>
              <a:latin typeface="Aptos"/>
            </a:endParaRPr>
          </a:p>
        </p:txBody>
      </p:sp>
      <p:sp>
        <p:nvSpPr>
          <p:cNvPr id="10" name="TextBox 9"/>
          <p:cNvSpPr txBox="1"/>
          <p:nvPr/>
        </p:nvSpPr>
        <p:spPr>
          <a:xfrm>
            <a:off x="822960" y="3931920"/>
            <a:ext cx="10789920" cy="384048"/>
          </a:xfrm>
          <a:prstGeom prst="rect">
            <a:avLst/>
          </a:prstGeom>
          <a:noFill/>
        </p:spPr>
        <p:txBody>
          <a:bodyPr wrap="square" lIns="27432" tIns="18288" rIns="27432" bIns="18288">
            <a:spAutoFit/>
          </a:bodyPr>
          <a:lstStyle/>
          <a:p>
            <a:r>
              <a:rPr sz="1500" b="1">
                <a:solidFill>
                  <a:srgbClr val="25303D"/>
                </a:solidFill>
                <a:latin typeface="Aptos"/>
              </a:rPr>
              <a:t>edX username: shibu1982  |  GitHub username: shibusbe</a:t>
            </a:r>
          </a:p>
        </p:txBody>
      </p:sp>
      <p:sp>
        <p:nvSpPr>
          <p:cNvPr id="11" name="TextBox 10"/>
          <p:cNvSpPr txBox="1"/>
          <p:nvPr/>
        </p:nvSpPr>
        <p:spPr>
          <a:xfrm>
            <a:off x="822960" y="4434840"/>
            <a:ext cx="10789920" cy="267766"/>
          </a:xfrm>
          <a:prstGeom prst="rect">
            <a:avLst/>
          </a:prstGeom>
          <a:noFill/>
        </p:spPr>
        <p:txBody>
          <a:bodyPr wrap="square" lIns="27432" tIns="18288" rIns="27432" bIns="18288">
            <a:spAutoFit/>
          </a:bodyPr>
          <a:lstStyle/>
          <a:p>
            <a:r>
              <a:rPr sz="1500" b="1" dirty="0">
                <a:solidFill>
                  <a:srgbClr val="25303D"/>
                </a:solidFill>
                <a:latin typeface="Aptos"/>
              </a:rPr>
              <a:t>Recording date: </a:t>
            </a:r>
            <a:r>
              <a:rPr lang="en-IN" sz="1500" b="1" dirty="0">
                <a:solidFill>
                  <a:srgbClr val="25303D"/>
                </a:solidFill>
                <a:latin typeface="Aptos"/>
              </a:rPr>
              <a:t>16-10-2026</a:t>
            </a:r>
            <a:endParaRPr sz="1500" b="1" dirty="0">
              <a:solidFill>
                <a:srgbClr val="25303D"/>
              </a:solidFill>
              <a:latin typeface="Aptos"/>
            </a:endParaRPr>
          </a:p>
        </p:txBody>
      </p:sp>
      <p:sp>
        <p:nvSpPr>
          <p:cNvPr id="12" name="TextBox 11"/>
          <p:cNvSpPr txBox="1"/>
          <p:nvPr/>
        </p:nvSpPr>
        <p:spPr>
          <a:xfrm>
            <a:off x="822960" y="4937759"/>
            <a:ext cx="10789920" cy="384048"/>
          </a:xfrm>
          <a:prstGeom prst="rect">
            <a:avLst/>
          </a:prstGeom>
          <a:noFill/>
        </p:spPr>
        <p:txBody>
          <a:bodyPr wrap="square" lIns="27432" tIns="18288" rIns="27432" bIns="18288">
            <a:spAutoFit/>
          </a:bodyPr>
          <a:lstStyle/>
          <a:p>
            <a:r>
              <a:rPr sz="1500" b="1">
                <a:solidFill>
                  <a:srgbClr val="25303D"/>
                </a:solidFill>
                <a:latin typeface="Aptos"/>
              </a:rPr>
              <a:t>Incident month/year: June–November 2025</a:t>
            </a:r>
          </a:p>
        </p:txBody>
      </p:sp>
      <p:sp>
        <p:nvSpPr>
          <p:cNvPr id="13" name="TextBox 12"/>
          <p:cNvSpPr txBox="1"/>
          <p:nvPr/>
        </p:nvSpPr>
        <p:spPr>
          <a:xfrm>
            <a:off x="822960" y="5440679"/>
            <a:ext cx="10789920" cy="384048"/>
          </a:xfrm>
          <a:prstGeom prst="rect">
            <a:avLst/>
          </a:prstGeom>
          <a:noFill/>
        </p:spPr>
        <p:txBody>
          <a:bodyPr wrap="square" lIns="27432" tIns="18288" rIns="27432" bIns="18288">
            <a:spAutoFit/>
          </a:bodyPr>
          <a:lstStyle/>
          <a:p>
            <a:r>
              <a:rPr sz="1500" b="0">
                <a:solidFill>
                  <a:srgbClr val="25303D"/>
                </a:solidFill>
                <a:latin typeface="Aptos"/>
              </a:rPr>
              <a:t>CVE-2025-20337 (Cisco ISE)  •  CVE-2025-5777 (Citrix NetScaler)</a:t>
            </a:r>
          </a:p>
        </p:txBody>
      </p:sp>
      <p:sp>
        <p:nvSpPr>
          <p:cNvPr id="14" name="TextBox 13"/>
          <p:cNvSpPr txBox="1"/>
          <p:nvPr/>
        </p:nvSpPr>
        <p:spPr>
          <a:xfrm>
            <a:off x="822960" y="5989320"/>
            <a:ext cx="10698480" cy="206210"/>
          </a:xfrm>
          <a:prstGeom prst="rect">
            <a:avLst/>
          </a:prstGeom>
          <a:noFill/>
        </p:spPr>
        <p:txBody>
          <a:bodyPr wrap="square" lIns="27432" tIns="18288" rIns="27432" bIns="18288">
            <a:spAutoFit/>
          </a:bodyPr>
          <a:lstStyle/>
          <a:p>
            <a:r>
              <a:rPr sz="1100" b="1" dirty="0">
                <a:solidFill>
                  <a:srgbClr val="E57E2D"/>
                </a:solidFill>
                <a:latin typeface="Aptos"/>
              </a:rPr>
              <a:t>Before recording: replace </a:t>
            </a:r>
            <a:r>
              <a:rPr lang="en-IN" sz="1100" b="1" dirty="0">
                <a:solidFill>
                  <a:srgbClr val="E57E2D"/>
                </a:solidFill>
                <a:latin typeface="Aptos"/>
              </a:rPr>
              <a:t> 16-10-2026 </a:t>
            </a:r>
            <a:r>
              <a:rPr sz="1100" b="1" dirty="0">
                <a:solidFill>
                  <a:srgbClr val="E57E2D"/>
                </a:solidFill>
                <a:latin typeface="Aptos"/>
              </a:rPr>
              <a:t>with the date you record.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02</a:t>
            </a:r>
          </a:p>
        </p:txBody>
      </p:sp>
      <p:sp>
        <p:nvSpPr>
          <p:cNvPr id="5" name="TextBox 4"/>
          <p:cNvSpPr txBox="1"/>
          <p:nvPr/>
        </p:nvSpPr>
        <p:spPr>
          <a:xfrm>
            <a:off x="621792" y="438912"/>
            <a:ext cx="10972800" cy="530352"/>
          </a:xfrm>
          <a:prstGeom prst="rect">
            <a:avLst/>
          </a:prstGeom>
          <a:noFill/>
        </p:spPr>
        <p:txBody>
          <a:bodyPr wrap="square" lIns="27432" tIns="18288" rIns="27432" bIns="18288">
            <a:spAutoFit/>
          </a:bodyPr>
          <a:lstStyle/>
          <a:p>
            <a:r>
              <a:rPr sz="2700" b="1">
                <a:solidFill>
                  <a:srgbClr val="0F213A"/>
                </a:solidFill>
                <a:latin typeface="Aptos"/>
              </a:rPr>
              <a:t>What happened?</a:t>
            </a:r>
          </a:p>
        </p:txBody>
      </p:sp>
      <p:sp>
        <p:nvSpPr>
          <p:cNvPr id="6" name="TextBox 5"/>
          <p:cNvSpPr txBox="1"/>
          <p:nvPr/>
        </p:nvSpPr>
        <p:spPr>
          <a:xfrm>
            <a:off x="640080" y="1024128"/>
            <a:ext cx="10972800" cy="347472"/>
          </a:xfrm>
          <a:prstGeom prst="rect">
            <a:avLst/>
          </a:prstGeom>
          <a:noFill/>
        </p:spPr>
        <p:txBody>
          <a:bodyPr wrap="square" lIns="27432" tIns="18288" rIns="27432" bIns="18288">
            <a:spAutoFit/>
          </a:bodyPr>
          <a:lstStyle/>
          <a:p>
            <a:r>
              <a:rPr sz="1500" b="1">
                <a:solidFill>
                  <a:srgbClr val="0099BE"/>
                </a:solidFill>
                <a:latin typeface="Aptos"/>
              </a:rPr>
              <a:t>Amazon Threat Intelligence reported a linked campaign on 12 November 2025</a:t>
            </a:r>
          </a:p>
        </p:txBody>
      </p:sp>
      <p:sp>
        <p:nvSpPr>
          <p:cNvPr id="7" name="Oval 6"/>
          <p:cNvSpPr/>
          <p:nvPr/>
        </p:nvSpPr>
        <p:spPr>
          <a:xfrm>
            <a:off x="777240" y="167335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00200"/>
            <a:ext cx="10378440" cy="612648"/>
          </a:xfrm>
          <a:prstGeom prst="rect">
            <a:avLst/>
          </a:prstGeom>
          <a:noFill/>
        </p:spPr>
        <p:txBody>
          <a:bodyPr wrap="square" lIns="27432" tIns="18288" rIns="27432" bIns="18288">
            <a:spAutoFit/>
          </a:bodyPr>
          <a:lstStyle/>
          <a:p>
            <a:r>
              <a:rPr sz="1700" b="0">
                <a:solidFill>
                  <a:srgbClr val="25303D"/>
                </a:solidFill>
                <a:latin typeface="Aptos"/>
              </a:rPr>
              <a:t>Amazon's MadPot honeypot network observed exploitation attempts against NetScaler before public disclosure.</a:t>
            </a:r>
          </a:p>
        </p:txBody>
      </p:sp>
      <p:sp>
        <p:nvSpPr>
          <p:cNvPr id="9" name="Oval 8"/>
          <p:cNvSpPr/>
          <p:nvPr/>
        </p:nvSpPr>
        <p:spPr>
          <a:xfrm>
            <a:off x="777240" y="245059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77440"/>
            <a:ext cx="10378440" cy="612648"/>
          </a:xfrm>
          <a:prstGeom prst="rect">
            <a:avLst/>
          </a:prstGeom>
          <a:noFill/>
        </p:spPr>
        <p:txBody>
          <a:bodyPr wrap="square" lIns="27432" tIns="18288" rIns="27432" bIns="18288">
            <a:spAutoFit/>
          </a:bodyPr>
          <a:lstStyle/>
          <a:p>
            <a:r>
              <a:rPr sz="1700" b="0">
                <a:solidFill>
                  <a:srgbClr val="25303D"/>
                </a:solidFill>
                <a:latin typeface="Aptos"/>
              </a:rPr>
              <a:t>While investigating, Amazon found a crafted payload targeting a previously undocumented Cisco ISE endpoint.</a:t>
            </a:r>
          </a:p>
        </p:txBody>
      </p:sp>
      <p:sp>
        <p:nvSpPr>
          <p:cNvPr id="11" name="Oval 10"/>
          <p:cNvSpPr/>
          <p:nvPr/>
        </p:nvSpPr>
        <p:spPr>
          <a:xfrm>
            <a:off x="777240" y="322783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54680"/>
            <a:ext cx="10378440" cy="612648"/>
          </a:xfrm>
          <a:prstGeom prst="rect">
            <a:avLst/>
          </a:prstGeom>
          <a:noFill/>
        </p:spPr>
        <p:txBody>
          <a:bodyPr wrap="square" lIns="27432" tIns="18288" rIns="27432" bIns="18288">
            <a:spAutoFit/>
          </a:bodyPr>
          <a:lstStyle/>
          <a:p>
            <a:r>
              <a:rPr sz="1400" b="0">
                <a:solidFill>
                  <a:srgbClr val="25303D"/>
                </a:solidFill>
                <a:latin typeface="Aptos"/>
              </a:rPr>
              <a:t>Cisco's advisory for CVE-2025-20337 was first published in June 2025; Amazon's November report added detail on observed exploitation.</a:t>
            </a:r>
          </a:p>
        </p:txBody>
      </p:sp>
      <p:sp>
        <p:nvSpPr>
          <p:cNvPr id="13" name="Oval 12"/>
          <p:cNvSpPr/>
          <p:nvPr/>
        </p:nvSpPr>
        <p:spPr>
          <a:xfrm>
            <a:off x="777240" y="400507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31920"/>
            <a:ext cx="10378440" cy="612648"/>
          </a:xfrm>
          <a:prstGeom prst="rect">
            <a:avLst/>
          </a:prstGeom>
          <a:noFill/>
        </p:spPr>
        <p:txBody>
          <a:bodyPr wrap="square" lIns="27432" tIns="18288" rIns="27432" bIns="18288">
            <a:spAutoFit/>
          </a:bodyPr>
          <a:lstStyle/>
          <a:p>
            <a:r>
              <a:rPr sz="1700" b="0">
                <a:solidFill>
                  <a:srgbClr val="25303D"/>
                </a:solidFill>
                <a:latin typeface="Aptos"/>
              </a:rPr>
              <a:t>The actor deployed a custom web shell on compromised ISE systems, according to Amazon.</a:t>
            </a:r>
          </a:p>
        </p:txBody>
      </p:sp>
      <p:sp>
        <p:nvSpPr>
          <p:cNvPr id="15" name="Oval 14"/>
          <p:cNvSpPr/>
          <p:nvPr/>
        </p:nvSpPr>
        <p:spPr>
          <a:xfrm>
            <a:off x="777240" y="478231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709159"/>
            <a:ext cx="10378440" cy="612648"/>
          </a:xfrm>
          <a:prstGeom prst="rect">
            <a:avLst/>
          </a:prstGeom>
          <a:noFill/>
        </p:spPr>
        <p:txBody>
          <a:bodyPr wrap="square" lIns="27432" tIns="18288" rIns="27432" bIns="18288">
            <a:spAutoFit/>
          </a:bodyPr>
          <a:lstStyle/>
          <a:p>
            <a:r>
              <a:rPr sz="1500" b="0">
                <a:solidFill>
                  <a:srgbClr val="25303D"/>
                </a:solidFill>
                <a:latin typeface="Aptos"/>
              </a:rPr>
              <a:t>Important distinction: the incident report describes observed activity; it does not prove every exposed device was compromised.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03</a:t>
            </a:r>
          </a:p>
        </p:txBody>
      </p:sp>
      <p:sp>
        <p:nvSpPr>
          <p:cNvPr id="5" name="TextBox 4"/>
          <p:cNvSpPr txBox="1"/>
          <p:nvPr/>
        </p:nvSpPr>
        <p:spPr>
          <a:xfrm>
            <a:off x="621792" y="438912"/>
            <a:ext cx="10972800" cy="530352"/>
          </a:xfrm>
          <a:prstGeom prst="rect">
            <a:avLst/>
          </a:prstGeom>
          <a:noFill/>
        </p:spPr>
        <p:txBody>
          <a:bodyPr wrap="square" lIns="27432" tIns="18288" rIns="27432" bIns="18288">
            <a:spAutoFit/>
          </a:bodyPr>
          <a:lstStyle/>
          <a:p>
            <a:r>
              <a:rPr sz="2700" b="1">
                <a:solidFill>
                  <a:srgbClr val="0F213A"/>
                </a:solidFill>
                <a:latin typeface="Aptos"/>
              </a:rPr>
              <a:t>The systems at risk</a:t>
            </a:r>
          </a:p>
        </p:txBody>
      </p:sp>
      <p:sp>
        <p:nvSpPr>
          <p:cNvPr id="6" name="TextBox 5"/>
          <p:cNvSpPr txBox="1"/>
          <p:nvPr/>
        </p:nvSpPr>
        <p:spPr>
          <a:xfrm>
            <a:off x="640080" y="1024128"/>
            <a:ext cx="10972800" cy="347472"/>
          </a:xfrm>
          <a:prstGeom prst="rect">
            <a:avLst/>
          </a:prstGeom>
          <a:noFill/>
        </p:spPr>
        <p:txBody>
          <a:bodyPr wrap="square" lIns="27432" tIns="18288" rIns="27432" bIns="18288">
            <a:spAutoFit/>
          </a:bodyPr>
          <a:lstStyle/>
          <a:p>
            <a:r>
              <a:rPr sz="1500" b="1">
                <a:solidFill>
                  <a:srgbClr val="0099BE"/>
                </a:solidFill>
                <a:latin typeface="Aptos"/>
              </a:rPr>
              <a:t>Both products occupy security-critical positions in enterprise environments</a:t>
            </a:r>
          </a:p>
        </p:txBody>
      </p:sp>
      <p:sp>
        <p:nvSpPr>
          <p:cNvPr id="7" name="Oval 6"/>
          <p:cNvSpPr/>
          <p:nvPr/>
        </p:nvSpPr>
        <p:spPr>
          <a:xfrm>
            <a:off x="777240" y="167335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00200"/>
            <a:ext cx="10378440" cy="612648"/>
          </a:xfrm>
          <a:prstGeom prst="rect">
            <a:avLst/>
          </a:prstGeom>
          <a:noFill/>
        </p:spPr>
        <p:txBody>
          <a:bodyPr wrap="square" lIns="27432" tIns="18288" rIns="27432" bIns="18288">
            <a:spAutoFit/>
          </a:bodyPr>
          <a:lstStyle/>
          <a:p>
            <a:r>
              <a:rPr sz="1500" b="0">
                <a:solidFill>
                  <a:srgbClr val="25303D"/>
                </a:solidFill>
                <a:latin typeface="Aptos"/>
              </a:rPr>
              <a:t>Cisco ISE: network access control and identity/policy enforcement; can influence which users and devices access network resources.</a:t>
            </a:r>
          </a:p>
        </p:txBody>
      </p:sp>
      <p:sp>
        <p:nvSpPr>
          <p:cNvPr id="9" name="Oval 8"/>
          <p:cNvSpPr/>
          <p:nvPr/>
        </p:nvSpPr>
        <p:spPr>
          <a:xfrm>
            <a:off x="777240" y="245059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77440"/>
            <a:ext cx="10378440" cy="612648"/>
          </a:xfrm>
          <a:prstGeom prst="rect">
            <a:avLst/>
          </a:prstGeom>
          <a:noFill/>
        </p:spPr>
        <p:txBody>
          <a:bodyPr wrap="square" lIns="27432" tIns="18288" rIns="27432" bIns="18288">
            <a:spAutoFit/>
          </a:bodyPr>
          <a:lstStyle/>
          <a:p>
            <a:r>
              <a:rPr sz="1500" b="0">
                <a:solidFill>
                  <a:srgbClr val="25303D"/>
                </a:solidFill>
                <a:latin typeface="Aptos"/>
              </a:rPr>
              <a:t>Citrix NetScaler ADC/Gateway: application delivery and remote-access gateway; may expose VPN, ICA Proxy, CVPN, RDP Proxy or AAA services.</a:t>
            </a:r>
          </a:p>
        </p:txBody>
      </p:sp>
      <p:sp>
        <p:nvSpPr>
          <p:cNvPr id="11" name="Oval 10"/>
          <p:cNvSpPr/>
          <p:nvPr/>
        </p:nvSpPr>
        <p:spPr>
          <a:xfrm>
            <a:off x="777240" y="322783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54680"/>
            <a:ext cx="10378440" cy="612648"/>
          </a:xfrm>
          <a:prstGeom prst="rect">
            <a:avLst/>
          </a:prstGeom>
          <a:noFill/>
        </p:spPr>
        <p:txBody>
          <a:bodyPr wrap="square" lIns="27432" tIns="18288" rIns="27432" bIns="18288">
            <a:spAutoFit/>
          </a:bodyPr>
          <a:lstStyle/>
          <a:p>
            <a:r>
              <a:rPr sz="1700" b="0">
                <a:solidFill>
                  <a:srgbClr val="25303D"/>
                </a:solidFill>
                <a:latin typeface="Aptos"/>
              </a:rPr>
              <a:t>These systems are privileged infrastructure—not ordinary end-user applications.</a:t>
            </a:r>
          </a:p>
        </p:txBody>
      </p:sp>
      <p:sp>
        <p:nvSpPr>
          <p:cNvPr id="13" name="Oval 12"/>
          <p:cNvSpPr/>
          <p:nvPr/>
        </p:nvSpPr>
        <p:spPr>
          <a:xfrm>
            <a:off x="777240" y="400507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31920"/>
            <a:ext cx="10378440" cy="612648"/>
          </a:xfrm>
          <a:prstGeom prst="rect">
            <a:avLst/>
          </a:prstGeom>
          <a:noFill/>
        </p:spPr>
        <p:txBody>
          <a:bodyPr wrap="square" lIns="27432" tIns="18288" rIns="27432" bIns="18288">
            <a:spAutoFit/>
          </a:bodyPr>
          <a:lstStyle/>
          <a:p>
            <a:r>
              <a:rPr sz="1500" b="0">
                <a:solidFill>
                  <a:srgbClr val="25303D"/>
                </a:solidFill>
                <a:latin typeface="Aptos"/>
              </a:rPr>
              <a:t>Attackers targeting them may seek a foothold at the boundary between the internet, identity services and internal networks.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04</a:t>
            </a:r>
          </a:p>
        </p:txBody>
      </p:sp>
      <p:sp>
        <p:nvSpPr>
          <p:cNvPr id="5" name="TextBox 4"/>
          <p:cNvSpPr txBox="1"/>
          <p:nvPr/>
        </p:nvSpPr>
        <p:spPr>
          <a:xfrm>
            <a:off x="621792" y="438912"/>
            <a:ext cx="10972800" cy="530352"/>
          </a:xfrm>
          <a:prstGeom prst="rect">
            <a:avLst/>
          </a:prstGeom>
          <a:noFill/>
        </p:spPr>
        <p:txBody>
          <a:bodyPr wrap="square" lIns="27432" tIns="18288" rIns="27432" bIns="18288">
            <a:spAutoFit/>
          </a:bodyPr>
          <a:lstStyle/>
          <a:p>
            <a:r>
              <a:rPr sz="2700" b="1">
                <a:solidFill>
                  <a:srgbClr val="0F213A"/>
                </a:solidFill>
                <a:latin typeface="Aptos"/>
              </a:rPr>
              <a:t>CVE-2025-5777 — Citrix NetScaler</a:t>
            </a:r>
          </a:p>
        </p:txBody>
      </p:sp>
      <p:sp>
        <p:nvSpPr>
          <p:cNvPr id="6" name="TextBox 5"/>
          <p:cNvSpPr txBox="1"/>
          <p:nvPr/>
        </p:nvSpPr>
        <p:spPr>
          <a:xfrm>
            <a:off x="640080" y="1024128"/>
            <a:ext cx="10972800" cy="347472"/>
          </a:xfrm>
          <a:prstGeom prst="rect">
            <a:avLst/>
          </a:prstGeom>
          <a:noFill/>
        </p:spPr>
        <p:txBody>
          <a:bodyPr wrap="square" lIns="27432" tIns="18288" rIns="27432" bIns="18288">
            <a:spAutoFit/>
          </a:bodyPr>
          <a:lstStyle/>
          <a:p>
            <a:r>
              <a:rPr sz="1500" b="1">
                <a:solidFill>
                  <a:srgbClr val="0099BE"/>
                </a:solidFill>
                <a:latin typeface="Aptos"/>
              </a:rPr>
              <a:t>“Citrix Bleed Two” | Public vendor bulletin: 17 June 2025</a:t>
            </a:r>
          </a:p>
        </p:txBody>
      </p:sp>
      <p:sp>
        <p:nvSpPr>
          <p:cNvPr id="7" name="Oval 6"/>
          <p:cNvSpPr/>
          <p:nvPr/>
        </p:nvSpPr>
        <p:spPr>
          <a:xfrm>
            <a:off x="777240" y="167335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00200"/>
            <a:ext cx="10378440" cy="612648"/>
          </a:xfrm>
          <a:prstGeom prst="rect">
            <a:avLst/>
          </a:prstGeom>
          <a:noFill/>
        </p:spPr>
        <p:txBody>
          <a:bodyPr wrap="square" lIns="27432" tIns="18288" rIns="27432" bIns="18288">
            <a:spAutoFit/>
          </a:bodyPr>
          <a:lstStyle/>
          <a:p>
            <a:r>
              <a:rPr sz="1700" b="0">
                <a:solidFill>
                  <a:srgbClr val="25303D"/>
                </a:solidFill>
                <a:latin typeface="Aptos"/>
              </a:rPr>
              <a:t>Type: insufficient input validation leading to an out-of-bounds memory read.</a:t>
            </a:r>
          </a:p>
        </p:txBody>
      </p:sp>
      <p:sp>
        <p:nvSpPr>
          <p:cNvPr id="9" name="Oval 8"/>
          <p:cNvSpPr/>
          <p:nvPr/>
        </p:nvSpPr>
        <p:spPr>
          <a:xfrm>
            <a:off x="777240" y="245059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77440"/>
            <a:ext cx="10378440" cy="612648"/>
          </a:xfrm>
          <a:prstGeom prst="rect">
            <a:avLst/>
          </a:prstGeom>
          <a:noFill/>
        </p:spPr>
        <p:txBody>
          <a:bodyPr wrap="square" lIns="27432" tIns="18288" rIns="27432" bIns="18288">
            <a:spAutoFit/>
          </a:bodyPr>
          <a:lstStyle/>
          <a:p>
            <a:r>
              <a:rPr sz="1700" b="0">
                <a:solidFill>
                  <a:srgbClr val="25303D"/>
                </a:solidFill>
                <a:latin typeface="Aptos"/>
              </a:rPr>
              <a:t>CVSS v4.0 base score: 9.3 (Critical), per Citrix/NVD.</a:t>
            </a:r>
          </a:p>
        </p:txBody>
      </p:sp>
      <p:sp>
        <p:nvSpPr>
          <p:cNvPr id="11" name="Oval 10"/>
          <p:cNvSpPr/>
          <p:nvPr/>
        </p:nvSpPr>
        <p:spPr>
          <a:xfrm>
            <a:off x="777240" y="322783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54680"/>
            <a:ext cx="10378440" cy="612648"/>
          </a:xfrm>
          <a:prstGeom prst="rect">
            <a:avLst/>
          </a:prstGeom>
          <a:noFill/>
        </p:spPr>
        <p:txBody>
          <a:bodyPr wrap="square" lIns="27432" tIns="18288" rIns="27432" bIns="18288">
            <a:spAutoFit/>
          </a:bodyPr>
          <a:lstStyle/>
          <a:p>
            <a:r>
              <a:rPr sz="1700" b="0">
                <a:solidFill>
                  <a:srgbClr val="25303D"/>
                </a:solidFill>
                <a:latin typeface="Aptos"/>
              </a:rPr>
              <a:t>Relevant when NetScaler ADC/Gateway is configured as a Gateway or AAA virtual server.</a:t>
            </a:r>
          </a:p>
        </p:txBody>
      </p:sp>
      <p:sp>
        <p:nvSpPr>
          <p:cNvPr id="13" name="Oval 12"/>
          <p:cNvSpPr/>
          <p:nvPr/>
        </p:nvSpPr>
        <p:spPr>
          <a:xfrm>
            <a:off x="777240" y="400507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31920"/>
            <a:ext cx="10378440" cy="612648"/>
          </a:xfrm>
          <a:prstGeom prst="rect">
            <a:avLst/>
          </a:prstGeom>
          <a:noFill/>
        </p:spPr>
        <p:txBody>
          <a:bodyPr wrap="square" lIns="27432" tIns="18288" rIns="27432" bIns="18288">
            <a:spAutoFit/>
          </a:bodyPr>
          <a:lstStyle/>
          <a:p>
            <a:r>
              <a:rPr sz="1700" b="0">
                <a:solidFill>
                  <a:srgbClr val="25303D"/>
                </a:solidFill>
                <a:latin typeface="Aptos"/>
              </a:rPr>
              <a:t>Vendor-listed fixed builds include 14.1-43.56 and 13.1-58.32; check the bulletin for platform-specific branches.</a:t>
            </a:r>
          </a:p>
        </p:txBody>
      </p:sp>
      <p:sp>
        <p:nvSpPr>
          <p:cNvPr id="15" name="Oval 14"/>
          <p:cNvSpPr/>
          <p:nvPr/>
        </p:nvSpPr>
        <p:spPr>
          <a:xfrm>
            <a:off x="777240" y="478231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709159"/>
            <a:ext cx="10378440" cy="612648"/>
          </a:xfrm>
          <a:prstGeom prst="rect">
            <a:avLst/>
          </a:prstGeom>
          <a:noFill/>
        </p:spPr>
        <p:txBody>
          <a:bodyPr wrap="square" lIns="27432" tIns="18288" rIns="27432" bIns="18288">
            <a:spAutoFit/>
          </a:bodyPr>
          <a:lstStyle/>
          <a:p>
            <a:r>
              <a:rPr sz="1700" b="0">
                <a:solidFill>
                  <a:srgbClr val="25303D"/>
                </a:solidFill>
                <a:latin typeface="Aptos"/>
              </a:rPr>
              <a:t>NVD lists it in CISA's Known Exploited Vulnerabilities catalog.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05</a:t>
            </a:r>
          </a:p>
        </p:txBody>
      </p:sp>
      <p:sp>
        <p:nvSpPr>
          <p:cNvPr id="5" name="TextBox 4"/>
          <p:cNvSpPr txBox="1"/>
          <p:nvPr/>
        </p:nvSpPr>
        <p:spPr>
          <a:xfrm>
            <a:off x="621792" y="438912"/>
            <a:ext cx="10972800" cy="530352"/>
          </a:xfrm>
          <a:prstGeom prst="rect">
            <a:avLst/>
          </a:prstGeom>
          <a:noFill/>
        </p:spPr>
        <p:txBody>
          <a:bodyPr wrap="square" lIns="27432" tIns="18288" rIns="27432" bIns="18288">
            <a:spAutoFit/>
          </a:bodyPr>
          <a:lstStyle/>
          <a:p>
            <a:r>
              <a:rPr sz="2700" b="1">
                <a:solidFill>
                  <a:srgbClr val="0F213A"/>
                </a:solidFill>
                <a:latin typeface="Aptos"/>
              </a:rPr>
              <a:t>CVE-2025-20337 — Cisco ISE</a:t>
            </a:r>
          </a:p>
        </p:txBody>
      </p:sp>
      <p:sp>
        <p:nvSpPr>
          <p:cNvPr id="6" name="TextBox 5"/>
          <p:cNvSpPr txBox="1"/>
          <p:nvPr/>
        </p:nvSpPr>
        <p:spPr>
          <a:xfrm>
            <a:off x="640080" y="1024128"/>
            <a:ext cx="10972800" cy="347472"/>
          </a:xfrm>
          <a:prstGeom prst="rect">
            <a:avLst/>
          </a:prstGeom>
          <a:noFill/>
        </p:spPr>
        <p:txBody>
          <a:bodyPr wrap="square" lIns="27432" tIns="18288" rIns="27432" bIns="18288">
            <a:spAutoFit/>
          </a:bodyPr>
          <a:lstStyle/>
          <a:p>
            <a:r>
              <a:rPr sz="1500" b="1">
                <a:solidFill>
                  <a:srgbClr val="0099BE"/>
                </a:solidFill>
                <a:latin typeface="Aptos"/>
              </a:rPr>
              <a:t>Unauthenticated remote code execution as root</a:t>
            </a:r>
          </a:p>
        </p:txBody>
      </p:sp>
      <p:sp>
        <p:nvSpPr>
          <p:cNvPr id="7" name="Oval 6"/>
          <p:cNvSpPr/>
          <p:nvPr/>
        </p:nvSpPr>
        <p:spPr>
          <a:xfrm>
            <a:off x="777240" y="167335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00200"/>
            <a:ext cx="10378440" cy="612648"/>
          </a:xfrm>
          <a:prstGeom prst="rect">
            <a:avLst/>
          </a:prstGeom>
          <a:noFill/>
        </p:spPr>
        <p:txBody>
          <a:bodyPr wrap="square" lIns="27432" tIns="18288" rIns="27432" bIns="18288">
            <a:spAutoFit/>
          </a:bodyPr>
          <a:lstStyle/>
          <a:p>
            <a:r>
              <a:rPr sz="1700" b="0">
                <a:solidFill>
                  <a:srgbClr val="25303D"/>
                </a:solidFill>
                <a:latin typeface="Aptos"/>
              </a:rPr>
              <a:t>Cisco describes insufficient validation of user-supplied input in a specific API / endpoint.</a:t>
            </a:r>
          </a:p>
        </p:txBody>
      </p:sp>
      <p:sp>
        <p:nvSpPr>
          <p:cNvPr id="9" name="Oval 8"/>
          <p:cNvSpPr/>
          <p:nvPr/>
        </p:nvSpPr>
        <p:spPr>
          <a:xfrm>
            <a:off x="777240" y="245059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77440"/>
            <a:ext cx="10378440" cy="612648"/>
          </a:xfrm>
          <a:prstGeom prst="rect">
            <a:avLst/>
          </a:prstGeom>
          <a:noFill/>
        </p:spPr>
        <p:txBody>
          <a:bodyPr wrap="square" lIns="27432" tIns="18288" rIns="27432" bIns="18288">
            <a:spAutoFit/>
          </a:bodyPr>
          <a:lstStyle/>
          <a:p>
            <a:r>
              <a:rPr sz="1700" b="0">
                <a:solidFill>
                  <a:srgbClr val="25303D"/>
                </a:solidFill>
                <a:latin typeface="Aptos"/>
              </a:rPr>
              <a:t>An unauthenticated remote attacker could issue commands on the underlying OS as root.</a:t>
            </a:r>
          </a:p>
        </p:txBody>
      </p:sp>
      <p:sp>
        <p:nvSpPr>
          <p:cNvPr id="11" name="Oval 10"/>
          <p:cNvSpPr/>
          <p:nvPr/>
        </p:nvSpPr>
        <p:spPr>
          <a:xfrm>
            <a:off x="777240" y="322783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54680"/>
            <a:ext cx="10378440" cy="612648"/>
          </a:xfrm>
          <a:prstGeom prst="rect">
            <a:avLst/>
          </a:prstGeom>
          <a:noFill/>
        </p:spPr>
        <p:txBody>
          <a:bodyPr wrap="square" lIns="27432" tIns="18288" rIns="27432" bIns="18288">
            <a:spAutoFit/>
          </a:bodyPr>
          <a:lstStyle/>
          <a:p>
            <a:r>
              <a:rPr sz="1700" b="0">
                <a:solidFill>
                  <a:srgbClr val="25303D"/>
                </a:solidFill>
                <a:latin typeface="Aptos"/>
              </a:rPr>
              <a:t>CVSS v3.1 base score: 10.0 (Critical), per Cisco's advisory.</a:t>
            </a:r>
          </a:p>
        </p:txBody>
      </p:sp>
      <p:sp>
        <p:nvSpPr>
          <p:cNvPr id="13" name="Oval 12"/>
          <p:cNvSpPr/>
          <p:nvPr/>
        </p:nvSpPr>
        <p:spPr>
          <a:xfrm>
            <a:off x="777240" y="400507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31920"/>
            <a:ext cx="10378440" cy="612648"/>
          </a:xfrm>
          <a:prstGeom prst="rect">
            <a:avLst/>
          </a:prstGeom>
          <a:noFill/>
        </p:spPr>
        <p:txBody>
          <a:bodyPr wrap="square" lIns="27432" tIns="18288" rIns="27432" bIns="18288">
            <a:spAutoFit/>
          </a:bodyPr>
          <a:lstStyle/>
          <a:p>
            <a:r>
              <a:rPr sz="1700" b="0">
                <a:solidFill>
                  <a:srgbClr val="25303D"/>
                </a:solidFill>
                <a:latin typeface="Aptos"/>
              </a:rPr>
              <a:t>Affected ISE/ISE-PIC releases: 3.3 and 3.4, regardless of configuration; 3.2 and earlier are not affected by this CVE.</a:t>
            </a:r>
          </a:p>
        </p:txBody>
      </p:sp>
      <p:sp>
        <p:nvSpPr>
          <p:cNvPr id="15" name="Oval 14"/>
          <p:cNvSpPr/>
          <p:nvPr/>
        </p:nvSpPr>
        <p:spPr>
          <a:xfrm>
            <a:off x="777240" y="478231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709159"/>
            <a:ext cx="10378440" cy="612648"/>
          </a:xfrm>
          <a:prstGeom prst="rect">
            <a:avLst/>
          </a:prstGeom>
          <a:noFill/>
        </p:spPr>
        <p:txBody>
          <a:bodyPr wrap="square" lIns="27432" tIns="18288" rIns="27432" bIns="18288">
            <a:spAutoFit/>
          </a:bodyPr>
          <a:lstStyle/>
          <a:p>
            <a:r>
              <a:rPr sz="1700" b="0">
                <a:solidFill>
                  <a:srgbClr val="25303D"/>
                </a:solidFill>
                <a:latin typeface="Aptos"/>
              </a:rPr>
              <a:t>Cisco's updated advisory identifies 3.3 Patch 7 and 3.4 Patch 2 as fixed releases for CVE-2025-20337.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06</a:t>
            </a:r>
          </a:p>
        </p:txBody>
      </p:sp>
      <p:sp>
        <p:nvSpPr>
          <p:cNvPr id="5" name="TextBox 4"/>
          <p:cNvSpPr txBox="1"/>
          <p:nvPr/>
        </p:nvSpPr>
        <p:spPr>
          <a:xfrm>
            <a:off x="621792" y="438912"/>
            <a:ext cx="10972800" cy="530352"/>
          </a:xfrm>
          <a:prstGeom prst="rect">
            <a:avLst/>
          </a:prstGeom>
          <a:noFill/>
        </p:spPr>
        <p:txBody>
          <a:bodyPr wrap="square" lIns="27432" tIns="18288" rIns="27432" bIns="18288">
            <a:spAutoFit/>
          </a:bodyPr>
          <a:lstStyle/>
          <a:p>
            <a:r>
              <a:rPr sz="2700" b="1">
                <a:solidFill>
                  <a:srgbClr val="0F213A"/>
                </a:solidFill>
                <a:latin typeface="Aptos"/>
              </a:rPr>
              <a:t>How the attack chain worked</a:t>
            </a:r>
          </a:p>
        </p:txBody>
      </p:sp>
      <p:sp>
        <p:nvSpPr>
          <p:cNvPr id="6" name="TextBox 5"/>
          <p:cNvSpPr txBox="1"/>
          <p:nvPr/>
        </p:nvSpPr>
        <p:spPr>
          <a:xfrm>
            <a:off x="640080" y="1024128"/>
            <a:ext cx="10972800" cy="347472"/>
          </a:xfrm>
          <a:prstGeom prst="rect">
            <a:avLst/>
          </a:prstGeom>
          <a:noFill/>
        </p:spPr>
        <p:txBody>
          <a:bodyPr wrap="square" lIns="27432" tIns="18288" rIns="27432" bIns="18288">
            <a:spAutoFit/>
          </a:bodyPr>
          <a:lstStyle/>
          <a:p>
            <a:r>
              <a:rPr sz="1500" b="1">
                <a:solidFill>
                  <a:srgbClr val="0099BE"/>
                </a:solidFill>
                <a:latin typeface="Aptos"/>
              </a:rPr>
              <a:t>High-level reconstruction from the published incident report</a:t>
            </a:r>
          </a:p>
        </p:txBody>
      </p:sp>
      <p:sp>
        <p:nvSpPr>
          <p:cNvPr id="7" name="Oval 6"/>
          <p:cNvSpPr/>
          <p:nvPr/>
        </p:nvSpPr>
        <p:spPr>
          <a:xfrm>
            <a:off x="777240" y="167335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00200"/>
            <a:ext cx="10378440" cy="612648"/>
          </a:xfrm>
          <a:prstGeom prst="rect">
            <a:avLst/>
          </a:prstGeom>
          <a:noFill/>
        </p:spPr>
        <p:txBody>
          <a:bodyPr wrap="square" lIns="27432" tIns="18288" rIns="27432" bIns="18288">
            <a:spAutoFit/>
          </a:bodyPr>
          <a:lstStyle/>
          <a:p>
            <a:r>
              <a:rPr sz="1700" b="0">
                <a:solidFill>
                  <a:srgbClr val="25303D"/>
                </a:solidFill>
                <a:latin typeface="Aptos"/>
              </a:rPr>
              <a:t>1. Scan or target exposed NetScaler / Cisco ISE services.</a:t>
            </a:r>
          </a:p>
        </p:txBody>
      </p:sp>
      <p:sp>
        <p:nvSpPr>
          <p:cNvPr id="9" name="Oval 8"/>
          <p:cNvSpPr/>
          <p:nvPr/>
        </p:nvSpPr>
        <p:spPr>
          <a:xfrm>
            <a:off x="777240" y="245059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77440"/>
            <a:ext cx="10378440" cy="612648"/>
          </a:xfrm>
          <a:prstGeom prst="rect">
            <a:avLst/>
          </a:prstGeom>
          <a:noFill/>
        </p:spPr>
        <p:txBody>
          <a:bodyPr wrap="square" lIns="27432" tIns="18288" rIns="27432" bIns="18288">
            <a:spAutoFit/>
          </a:bodyPr>
          <a:lstStyle/>
          <a:p>
            <a:r>
              <a:rPr sz="1700" b="0">
                <a:solidFill>
                  <a:srgbClr val="25303D"/>
                </a:solidFill>
                <a:latin typeface="Aptos"/>
              </a:rPr>
              <a:t>2. Send crafted requests to vulnerable code paths before a fix is applied.</a:t>
            </a:r>
          </a:p>
        </p:txBody>
      </p:sp>
      <p:sp>
        <p:nvSpPr>
          <p:cNvPr id="11" name="Oval 10"/>
          <p:cNvSpPr/>
          <p:nvPr/>
        </p:nvSpPr>
        <p:spPr>
          <a:xfrm>
            <a:off x="777240" y="322783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54680"/>
            <a:ext cx="10378440" cy="612648"/>
          </a:xfrm>
          <a:prstGeom prst="rect">
            <a:avLst/>
          </a:prstGeom>
          <a:noFill/>
        </p:spPr>
        <p:txBody>
          <a:bodyPr wrap="square" lIns="27432" tIns="18288" rIns="27432" bIns="18288">
            <a:spAutoFit/>
          </a:bodyPr>
          <a:lstStyle/>
          <a:p>
            <a:r>
              <a:rPr sz="1700" b="0">
                <a:solidFill>
                  <a:srgbClr val="25303D"/>
                </a:solidFill>
                <a:latin typeface="Aptos"/>
              </a:rPr>
              <a:t>3. NetScaler flaw: memory overread; Cisco ISE flaw: unauthenticated OS command execution as root.</a:t>
            </a:r>
          </a:p>
        </p:txBody>
      </p:sp>
      <p:sp>
        <p:nvSpPr>
          <p:cNvPr id="13" name="Oval 12"/>
          <p:cNvSpPr/>
          <p:nvPr/>
        </p:nvSpPr>
        <p:spPr>
          <a:xfrm>
            <a:off x="777240" y="400507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31920"/>
            <a:ext cx="10378440" cy="612648"/>
          </a:xfrm>
          <a:prstGeom prst="rect">
            <a:avLst/>
          </a:prstGeom>
          <a:noFill/>
        </p:spPr>
        <p:txBody>
          <a:bodyPr wrap="square" lIns="27432" tIns="18288" rIns="27432" bIns="18288">
            <a:spAutoFit/>
          </a:bodyPr>
          <a:lstStyle/>
          <a:p>
            <a:r>
              <a:rPr sz="1700" b="0">
                <a:solidFill>
                  <a:srgbClr val="25303D"/>
                </a:solidFill>
                <a:latin typeface="Aptos"/>
              </a:rPr>
              <a:t>4. On compromised ISE, Amazon observed a custom web shell disguised as “IdentityAuditAction.”</a:t>
            </a:r>
          </a:p>
        </p:txBody>
      </p:sp>
      <p:sp>
        <p:nvSpPr>
          <p:cNvPr id="15" name="Oval 14"/>
          <p:cNvSpPr/>
          <p:nvPr/>
        </p:nvSpPr>
        <p:spPr>
          <a:xfrm>
            <a:off x="777240" y="478231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709159"/>
            <a:ext cx="10378440" cy="612648"/>
          </a:xfrm>
          <a:prstGeom prst="rect">
            <a:avLst/>
          </a:prstGeom>
          <a:noFill/>
        </p:spPr>
        <p:txBody>
          <a:bodyPr wrap="square" lIns="27432" tIns="18288" rIns="27432" bIns="18288">
            <a:spAutoFit/>
          </a:bodyPr>
          <a:lstStyle/>
          <a:p>
            <a:r>
              <a:rPr sz="1500" b="0">
                <a:solidFill>
                  <a:srgbClr val="25303D"/>
                </a:solidFill>
                <a:latin typeface="Aptos"/>
              </a:rPr>
              <a:t>5. Reported shell used in-memory operation and access checks; treat these as reported observations, not a universal exploit recipe.</a:t>
            </a:r>
          </a:p>
        </p:txBody>
      </p:sp>
      <p:sp>
        <p:nvSpPr>
          <p:cNvPr id="17" name="Rounded Rectangle 16"/>
          <p:cNvSpPr/>
          <p:nvPr/>
        </p:nvSpPr>
        <p:spPr>
          <a:xfrm>
            <a:off x="822960" y="5486400"/>
            <a:ext cx="2240280" cy="566928"/>
          </a:xfrm>
          <a:prstGeom prst="roundRect">
            <a:avLst/>
          </a:prstGeom>
          <a:solidFill>
            <a:srgbClr val="EFF7FA"/>
          </a:solidFill>
          <a:ln>
            <a:solidFill>
              <a:srgbClr val="009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213A"/>
                </a:solidFill>
                <a:latin typeface="Aptos"/>
              </a:rPr>
              <a:t>Exposed
appliance</a:t>
            </a:r>
          </a:p>
        </p:txBody>
      </p:sp>
      <p:sp>
        <p:nvSpPr>
          <p:cNvPr id="18" name="TextBox 17"/>
          <p:cNvSpPr txBox="1"/>
          <p:nvPr/>
        </p:nvSpPr>
        <p:spPr>
          <a:xfrm>
            <a:off x="3090672" y="5605272"/>
            <a:ext cx="320040" cy="228600"/>
          </a:xfrm>
          <a:prstGeom prst="rect">
            <a:avLst/>
          </a:prstGeom>
          <a:noFill/>
        </p:spPr>
        <p:txBody>
          <a:bodyPr wrap="square" lIns="27432" tIns="18288" rIns="27432" bIns="18288">
            <a:spAutoFit/>
          </a:bodyPr>
          <a:lstStyle/>
          <a:p>
            <a:pPr algn="ctr"/>
            <a:r>
              <a:rPr sz="1800" b="1">
                <a:solidFill>
                  <a:srgbClr val="0099BE"/>
                </a:solidFill>
                <a:latin typeface="Aptos"/>
              </a:rPr>
              <a:t>→</a:t>
            </a:r>
          </a:p>
        </p:txBody>
      </p:sp>
      <p:sp>
        <p:nvSpPr>
          <p:cNvPr id="19" name="Rounded Rectangle 18"/>
          <p:cNvSpPr/>
          <p:nvPr/>
        </p:nvSpPr>
        <p:spPr>
          <a:xfrm>
            <a:off x="3611879" y="5486400"/>
            <a:ext cx="2240280" cy="566928"/>
          </a:xfrm>
          <a:prstGeom prst="roundRect">
            <a:avLst/>
          </a:prstGeom>
          <a:solidFill>
            <a:srgbClr val="EFF7FA"/>
          </a:solidFill>
          <a:ln>
            <a:solidFill>
              <a:srgbClr val="009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213A"/>
                </a:solidFill>
                <a:latin typeface="Aptos"/>
              </a:rPr>
              <a:t>Crafted
request</a:t>
            </a:r>
          </a:p>
        </p:txBody>
      </p:sp>
      <p:sp>
        <p:nvSpPr>
          <p:cNvPr id="20" name="TextBox 19"/>
          <p:cNvSpPr txBox="1"/>
          <p:nvPr/>
        </p:nvSpPr>
        <p:spPr>
          <a:xfrm>
            <a:off x="5879592" y="5605272"/>
            <a:ext cx="320040" cy="228600"/>
          </a:xfrm>
          <a:prstGeom prst="rect">
            <a:avLst/>
          </a:prstGeom>
          <a:noFill/>
        </p:spPr>
        <p:txBody>
          <a:bodyPr wrap="square" lIns="27432" tIns="18288" rIns="27432" bIns="18288">
            <a:spAutoFit/>
          </a:bodyPr>
          <a:lstStyle/>
          <a:p>
            <a:pPr algn="ctr"/>
            <a:r>
              <a:rPr sz="1800" b="1">
                <a:solidFill>
                  <a:srgbClr val="0099BE"/>
                </a:solidFill>
                <a:latin typeface="Aptos"/>
              </a:rPr>
              <a:t>→</a:t>
            </a:r>
          </a:p>
        </p:txBody>
      </p:sp>
      <p:sp>
        <p:nvSpPr>
          <p:cNvPr id="21" name="Rounded Rectangle 20"/>
          <p:cNvSpPr/>
          <p:nvPr/>
        </p:nvSpPr>
        <p:spPr>
          <a:xfrm>
            <a:off x="6400800" y="5486400"/>
            <a:ext cx="2240280" cy="566928"/>
          </a:xfrm>
          <a:prstGeom prst="roundRect">
            <a:avLst/>
          </a:prstGeom>
          <a:solidFill>
            <a:srgbClr val="EFF7FA"/>
          </a:solidFill>
          <a:ln>
            <a:solidFill>
              <a:srgbClr val="009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213A"/>
                </a:solidFill>
                <a:latin typeface="Aptos"/>
              </a:rPr>
              <a:t>Vulnerable
code path</a:t>
            </a:r>
          </a:p>
        </p:txBody>
      </p:sp>
      <p:sp>
        <p:nvSpPr>
          <p:cNvPr id="22" name="TextBox 21"/>
          <p:cNvSpPr txBox="1"/>
          <p:nvPr/>
        </p:nvSpPr>
        <p:spPr>
          <a:xfrm>
            <a:off x="8668512" y="5605272"/>
            <a:ext cx="320040" cy="228600"/>
          </a:xfrm>
          <a:prstGeom prst="rect">
            <a:avLst/>
          </a:prstGeom>
          <a:noFill/>
        </p:spPr>
        <p:txBody>
          <a:bodyPr wrap="square" lIns="27432" tIns="18288" rIns="27432" bIns="18288">
            <a:spAutoFit/>
          </a:bodyPr>
          <a:lstStyle/>
          <a:p>
            <a:pPr algn="ctr"/>
            <a:r>
              <a:rPr sz="1800" b="1">
                <a:solidFill>
                  <a:srgbClr val="0099BE"/>
                </a:solidFill>
                <a:latin typeface="Aptos"/>
              </a:rPr>
              <a:t>→</a:t>
            </a:r>
          </a:p>
        </p:txBody>
      </p:sp>
      <p:sp>
        <p:nvSpPr>
          <p:cNvPr id="23" name="Rounded Rectangle 22"/>
          <p:cNvSpPr/>
          <p:nvPr/>
        </p:nvSpPr>
        <p:spPr>
          <a:xfrm>
            <a:off x="9189720" y="5486400"/>
            <a:ext cx="2240280" cy="566928"/>
          </a:xfrm>
          <a:prstGeom prst="roundRect">
            <a:avLst/>
          </a:prstGeom>
          <a:solidFill>
            <a:srgbClr val="EFF7FA"/>
          </a:solidFill>
          <a:ln>
            <a:solidFill>
              <a:srgbClr val="009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213A"/>
                </a:solidFill>
                <a:latin typeface="Aptos"/>
              </a:rPr>
              <a:t>Shell / follow-on
activity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07</a:t>
            </a:r>
          </a:p>
        </p:txBody>
      </p:sp>
      <p:sp>
        <p:nvSpPr>
          <p:cNvPr id="5" name="TextBox 4"/>
          <p:cNvSpPr txBox="1"/>
          <p:nvPr/>
        </p:nvSpPr>
        <p:spPr>
          <a:xfrm>
            <a:off x="621792" y="438912"/>
            <a:ext cx="10972800" cy="530352"/>
          </a:xfrm>
          <a:prstGeom prst="rect">
            <a:avLst/>
          </a:prstGeom>
          <a:noFill/>
        </p:spPr>
        <p:txBody>
          <a:bodyPr wrap="square" lIns="27432" tIns="18288" rIns="27432" bIns="18288">
            <a:spAutoFit/>
          </a:bodyPr>
          <a:lstStyle/>
          <a:p>
            <a:r>
              <a:rPr sz="2700" b="1">
                <a:solidFill>
                  <a:srgbClr val="0F213A"/>
                </a:solidFill>
                <a:latin typeface="Aptos"/>
              </a:rPr>
              <a:t>Impact and why it matters</a:t>
            </a:r>
          </a:p>
        </p:txBody>
      </p:sp>
      <p:sp>
        <p:nvSpPr>
          <p:cNvPr id="6" name="TextBox 5"/>
          <p:cNvSpPr txBox="1"/>
          <p:nvPr/>
        </p:nvSpPr>
        <p:spPr>
          <a:xfrm>
            <a:off x="640080" y="1024128"/>
            <a:ext cx="10972800" cy="347472"/>
          </a:xfrm>
          <a:prstGeom prst="rect">
            <a:avLst/>
          </a:prstGeom>
          <a:noFill/>
        </p:spPr>
        <p:txBody>
          <a:bodyPr wrap="square" lIns="27432" tIns="18288" rIns="27432" bIns="18288">
            <a:spAutoFit/>
          </a:bodyPr>
          <a:lstStyle/>
          <a:p>
            <a:r>
              <a:rPr sz="1500" b="1">
                <a:solidFill>
                  <a:srgbClr val="0099BE"/>
                </a:solidFill>
                <a:latin typeface="Aptos"/>
              </a:rPr>
              <a:t>A vulnerable security boundary can become a route into the organisation</a:t>
            </a:r>
          </a:p>
        </p:txBody>
      </p:sp>
      <p:sp>
        <p:nvSpPr>
          <p:cNvPr id="7" name="Oval 6"/>
          <p:cNvSpPr/>
          <p:nvPr/>
        </p:nvSpPr>
        <p:spPr>
          <a:xfrm>
            <a:off x="777240" y="167335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00200"/>
            <a:ext cx="10378440" cy="612648"/>
          </a:xfrm>
          <a:prstGeom prst="rect">
            <a:avLst/>
          </a:prstGeom>
          <a:noFill/>
        </p:spPr>
        <p:txBody>
          <a:bodyPr wrap="square" lIns="27432" tIns="18288" rIns="27432" bIns="18288">
            <a:spAutoFit/>
          </a:bodyPr>
          <a:lstStyle/>
          <a:p>
            <a:r>
              <a:rPr sz="1700" b="0">
                <a:solidFill>
                  <a:srgbClr val="25303D"/>
                </a:solidFill>
                <a:latin typeface="Aptos"/>
              </a:rPr>
              <a:t>Potential impact: appliance takeover, disruption of access services, and a platform for follow-on activity.</a:t>
            </a:r>
          </a:p>
        </p:txBody>
      </p:sp>
      <p:sp>
        <p:nvSpPr>
          <p:cNvPr id="9" name="Oval 8"/>
          <p:cNvSpPr/>
          <p:nvPr/>
        </p:nvSpPr>
        <p:spPr>
          <a:xfrm>
            <a:off x="777240" y="245059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77440"/>
            <a:ext cx="10378440" cy="612648"/>
          </a:xfrm>
          <a:prstGeom prst="rect">
            <a:avLst/>
          </a:prstGeom>
          <a:noFill/>
        </p:spPr>
        <p:txBody>
          <a:bodyPr wrap="square" lIns="27432" tIns="18288" rIns="27432" bIns="18288">
            <a:spAutoFit/>
          </a:bodyPr>
          <a:lstStyle/>
          <a:p>
            <a:r>
              <a:rPr sz="1700" b="0">
                <a:solidFill>
                  <a:srgbClr val="25303D"/>
                </a:solidFill>
                <a:latin typeface="Aptos"/>
              </a:rPr>
              <a:t>ISE root access may undermine confidence in network-access policy and appliance integrity.</a:t>
            </a:r>
          </a:p>
        </p:txBody>
      </p:sp>
      <p:sp>
        <p:nvSpPr>
          <p:cNvPr id="11" name="Oval 10"/>
          <p:cNvSpPr/>
          <p:nvPr/>
        </p:nvSpPr>
        <p:spPr>
          <a:xfrm>
            <a:off x="777240" y="322783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54680"/>
            <a:ext cx="10378440" cy="612648"/>
          </a:xfrm>
          <a:prstGeom prst="rect">
            <a:avLst/>
          </a:prstGeom>
          <a:noFill/>
        </p:spPr>
        <p:txBody>
          <a:bodyPr wrap="square" lIns="27432" tIns="18288" rIns="27432" bIns="18288">
            <a:spAutoFit/>
          </a:bodyPr>
          <a:lstStyle/>
          <a:p>
            <a:r>
              <a:rPr sz="1700" b="0">
                <a:solidFill>
                  <a:srgbClr val="25303D"/>
                </a:solidFill>
                <a:latin typeface="Aptos"/>
              </a:rPr>
              <a:t>Memory disclosure can expose sensitive process data; exact impact depends on runtime state and exploit chain.</a:t>
            </a:r>
          </a:p>
        </p:txBody>
      </p:sp>
      <p:sp>
        <p:nvSpPr>
          <p:cNvPr id="13" name="Oval 12"/>
          <p:cNvSpPr/>
          <p:nvPr/>
        </p:nvSpPr>
        <p:spPr>
          <a:xfrm>
            <a:off x="777240" y="400507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31920"/>
            <a:ext cx="10378440" cy="612648"/>
          </a:xfrm>
          <a:prstGeom prst="rect">
            <a:avLst/>
          </a:prstGeom>
          <a:noFill/>
        </p:spPr>
        <p:txBody>
          <a:bodyPr wrap="square" lIns="27432" tIns="18288" rIns="27432" bIns="18288">
            <a:spAutoFit/>
          </a:bodyPr>
          <a:lstStyle/>
          <a:p>
            <a:r>
              <a:rPr sz="1700" b="0">
                <a:solidFill>
                  <a:srgbClr val="25303D"/>
                </a:solidFill>
                <a:latin typeface="Aptos"/>
              </a:rPr>
              <a:t>Custom, memory-resident web shells complicate detection and forensic collection.</a:t>
            </a:r>
          </a:p>
        </p:txBody>
      </p:sp>
      <p:sp>
        <p:nvSpPr>
          <p:cNvPr id="15" name="Oval 14"/>
          <p:cNvSpPr/>
          <p:nvPr/>
        </p:nvSpPr>
        <p:spPr>
          <a:xfrm>
            <a:off x="777240" y="478231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709159"/>
            <a:ext cx="10378440" cy="612648"/>
          </a:xfrm>
          <a:prstGeom prst="rect">
            <a:avLst/>
          </a:prstGeom>
          <a:noFill/>
        </p:spPr>
        <p:txBody>
          <a:bodyPr wrap="square" lIns="27432" tIns="18288" rIns="27432" bIns="18288">
            <a:spAutoFit/>
          </a:bodyPr>
          <a:lstStyle/>
          <a:p>
            <a:r>
              <a:rPr sz="1700" b="0">
                <a:solidFill>
                  <a:srgbClr val="25303D"/>
                </a:solidFill>
                <a:latin typeface="Aptos"/>
              </a:rPr>
              <a:t>Exposure is not the same as confirmed compromise—validate against logs, indicators and vendor guidance.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08</a:t>
            </a:r>
          </a:p>
        </p:txBody>
      </p:sp>
      <p:sp>
        <p:nvSpPr>
          <p:cNvPr id="5" name="TextBox 4"/>
          <p:cNvSpPr txBox="1"/>
          <p:nvPr/>
        </p:nvSpPr>
        <p:spPr>
          <a:xfrm>
            <a:off x="621792" y="438912"/>
            <a:ext cx="10972800" cy="530352"/>
          </a:xfrm>
          <a:prstGeom prst="rect">
            <a:avLst/>
          </a:prstGeom>
          <a:noFill/>
        </p:spPr>
        <p:txBody>
          <a:bodyPr wrap="square" lIns="27432" tIns="18288" rIns="27432" bIns="18288">
            <a:spAutoFit/>
          </a:bodyPr>
          <a:lstStyle/>
          <a:p>
            <a:r>
              <a:rPr sz="2700" b="1">
                <a:solidFill>
                  <a:srgbClr val="0F213A"/>
                </a:solidFill>
                <a:latin typeface="Aptos"/>
              </a:rPr>
              <a:t>Defensive recommendations</a:t>
            </a:r>
          </a:p>
        </p:txBody>
      </p:sp>
      <p:sp>
        <p:nvSpPr>
          <p:cNvPr id="6" name="TextBox 5"/>
          <p:cNvSpPr txBox="1"/>
          <p:nvPr/>
        </p:nvSpPr>
        <p:spPr>
          <a:xfrm>
            <a:off x="640080" y="1024128"/>
            <a:ext cx="10972800" cy="347472"/>
          </a:xfrm>
          <a:prstGeom prst="rect">
            <a:avLst/>
          </a:prstGeom>
          <a:noFill/>
        </p:spPr>
        <p:txBody>
          <a:bodyPr wrap="square" lIns="27432" tIns="18288" rIns="27432" bIns="18288">
            <a:spAutoFit/>
          </a:bodyPr>
          <a:lstStyle/>
          <a:p>
            <a:r>
              <a:rPr sz="1500" b="1">
                <a:solidFill>
                  <a:srgbClr val="0099BE"/>
                </a:solidFill>
                <a:latin typeface="Aptos"/>
              </a:rPr>
              <a:t>Prioritise remediation, reduce exposure, and validate integrity</a:t>
            </a:r>
          </a:p>
        </p:txBody>
      </p:sp>
      <p:sp>
        <p:nvSpPr>
          <p:cNvPr id="7" name="Oval 6"/>
          <p:cNvSpPr/>
          <p:nvPr/>
        </p:nvSpPr>
        <p:spPr>
          <a:xfrm>
            <a:off x="777240" y="1673352"/>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00200"/>
            <a:ext cx="10378440" cy="612648"/>
          </a:xfrm>
          <a:prstGeom prst="rect">
            <a:avLst/>
          </a:prstGeom>
          <a:noFill/>
        </p:spPr>
        <p:txBody>
          <a:bodyPr wrap="square" lIns="27432" tIns="18288" rIns="27432" bIns="18288">
            <a:spAutoFit/>
          </a:bodyPr>
          <a:lstStyle/>
          <a:p>
            <a:r>
              <a:rPr sz="1700" b="0">
                <a:solidFill>
                  <a:srgbClr val="25303D"/>
                </a:solidFill>
                <a:latin typeface="Aptos"/>
              </a:rPr>
              <a:t>Patch: upgrade to vendor-confirmed fixed releases; verify every HA pair, cluster node and standby appliance.</a:t>
            </a:r>
          </a:p>
        </p:txBody>
      </p:sp>
      <p:sp>
        <p:nvSpPr>
          <p:cNvPr id="9" name="Oval 8"/>
          <p:cNvSpPr/>
          <p:nvPr/>
        </p:nvSpPr>
        <p:spPr>
          <a:xfrm>
            <a:off x="777240" y="2350008"/>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276856"/>
            <a:ext cx="10378440" cy="612648"/>
          </a:xfrm>
          <a:prstGeom prst="rect">
            <a:avLst/>
          </a:prstGeom>
          <a:noFill/>
        </p:spPr>
        <p:txBody>
          <a:bodyPr wrap="square" lIns="27432" tIns="18288" rIns="27432" bIns="18288">
            <a:spAutoFit/>
          </a:bodyPr>
          <a:lstStyle/>
          <a:p>
            <a:r>
              <a:rPr sz="1500" b="0">
                <a:solidFill>
                  <a:srgbClr val="25303D"/>
                </a:solidFill>
                <a:latin typeface="Aptos"/>
              </a:rPr>
              <a:t>Reduce exposure: restrict management interfaces and privileged endpoints to trusted networks; remove unnecessary internet reachability.</a:t>
            </a:r>
          </a:p>
        </p:txBody>
      </p:sp>
      <p:sp>
        <p:nvSpPr>
          <p:cNvPr id="11" name="Oval 10"/>
          <p:cNvSpPr/>
          <p:nvPr/>
        </p:nvSpPr>
        <p:spPr>
          <a:xfrm>
            <a:off x="777240" y="3026664"/>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2953512"/>
            <a:ext cx="10378440" cy="612648"/>
          </a:xfrm>
          <a:prstGeom prst="rect">
            <a:avLst/>
          </a:prstGeom>
          <a:noFill/>
        </p:spPr>
        <p:txBody>
          <a:bodyPr wrap="square" lIns="27432" tIns="18288" rIns="27432" bIns="18288">
            <a:spAutoFit/>
          </a:bodyPr>
          <a:lstStyle/>
          <a:p>
            <a:r>
              <a:rPr sz="1700" b="0">
                <a:solidFill>
                  <a:srgbClr val="25303D"/>
                </a:solidFill>
                <a:latin typeface="Aptos"/>
              </a:rPr>
              <a:t>Inventory: track appliance versions, configuration, ownership, and end-of-life status.</a:t>
            </a:r>
          </a:p>
        </p:txBody>
      </p:sp>
      <p:sp>
        <p:nvSpPr>
          <p:cNvPr id="13" name="Oval 12"/>
          <p:cNvSpPr/>
          <p:nvPr/>
        </p:nvSpPr>
        <p:spPr>
          <a:xfrm>
            <a:off x="777240" y="3703320"/>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630168"/>
            <a:ext cx="10378440" cy="612648"/>
          </a:xfrm>
          <a:prstGeom prst="rect">
            <a:avLst/>
          </a:prstGeom>
          <a:noFill/>
        </p:spPr>
        <p:txBody>
          <a:bodyPr wrap="square" lIns="27432" tIns="18288" rIns="27432" bIns="18288">
            <a:spAutoFit/>
          </a:bodyPr>
          <a:lstStyle/>
          <a:p>
            <a:r>
              <a:rPr sz="1500" b="0">
                <a:solidFill>
                  <a:srgbClr val="25303D"/>
                </a:solidFill>
                <a:latin typeface="Aptos"/>
              </a:rPr>
              <a:t>Detect: review authentication, API, web/Tomcat and system logs; hunt for unexpected processes, threads, accounts and outbound traffic.</a:t>
            </a:r>
          </a:p>
        </p:txBody>
      </p:sp>
      <p:sp>
        <p:nvSpPr>
          <p:cNvPr id="15" name="Oval 14"/>
          <p:cNvSpPr/>
          <p:nvPr/>
        </p:nvSpPr>
        <p:spPr>
          <a:xfrm>
            <a:off x="777240" y="4379976"/>
            <a:ext cx="118872" cy="118872"/>
          </a:xfrm>
          <a:prstGeom prst="ellipse">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306824"/>
            <a:ext cx="10378440" cy="612648"/>
          </a:xfrm>
          <a:prstGeom prst="rect">
            <a:avLst/>
          </a:prstGeom>
          <a:noFill/>
        </p:spPr>
        <p:txBody>
          <a:bodyPr wrap="square" lIns="27432" tIns="18288" rIns="27432" bIns="18288">
            <a:spAutoFit/>
          </a:bodyPr>
          <a:lstStyle/>
          <a:p>
            <a:r>
              <a:rPr sz="1500" b="0">
                <a:solidFill>
                  <a:srgbClr val="25303D"/>
                </a:solidFill>
                <a:latin typeface="Aptos"/>
              </a:rPr>
              <a:t>Respond: preserve evidence, follow vendor indicators and incident-response guidance; rotate credentials/secrets if compromise is suspected.</a:t>
            </a:r>
          </a:p>
        </p:txBody>
      </p:sp>
      <p:sp>
        <p:nvSpPr>
          <p:cNvPr id="17" name="Oval 16"/>
          <p:cNvSpPr/>
          <p:nvPr/>
        </p:nvSpPr>
        <p:spPr>
          <a:xfrm>
            <a:off x="777240" y="5056632"/>
            <a:ext cx="118872" cy="118872"/>
          </a:xfrm>
          <a:prstGeom prst="ellipse">
            <a:avLst/>
          </a:prstGeom>
          <a:solidFill>
            <a:srgbClr val="E5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983480"/>
            <a:ext cx="10378440" cy="612648"/>
          </a:xfrm>
          <a:prstGeom prst="rect">
            <a:avLst/>
          </a:prstGeom>
          <a:noFill/>
        </p:spPr>
        <p:txBody>
          <a:bodyPr wrap="square" lIns="27432" tIns="18288" rIns="27432" bIns="18288">
            <a:spAutoFit/>
          </a:bodyPr>
          <a:lstStyle/>
          <a:p>
            <a:r>
              <a:rPr sz="1700" b="0">
                <a:solidFill>
                  <a:srgbClr val="25303D"/>
                </a:solidFill>
                <a:latin typeface="Aptos"/>
              </a:rPr>
              <a:t>Govern: test emergency patching, vulnerability notification and rollback procedures.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9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473952"/>
            <a:ext cx="7772400" cy="201168"/>
          </a:xfrm>
          <a:prstGeom prst="rect">
            <a:avLst/>
          </a:prstGeom>
          <a:noFill/>
        </p:spPr>
        <p:txBody>
          <a:bodyPr wrap="square" lIns="27432" tIns="18288" rIns="27432" bIns="18288">
            <a:spAutoFit/>
          </a:bodyPr>
          <a:lstStyle/>
          <a:p>
            <a:r>
              <a:rPr sz="900" b="1">
                <a:solidFill>
                  <a:srgbClr val="5C6C7C"/>
                </a:solidFill>
                <a:latin typeface="Aptos"/>
              </a:rPr>
              <a:t>CS50 CYBERSECURITY</a:t>
            </a:r>
          </a:p>
        </p:txBody>
      </p:sp>
      <p:sp>
        <p:nvSpPr>
          <p:cNvPr id="4" name="TextBox 3"/>
          <p:cNvSpPr txBox="1"/>
          <p:nvPr/>
        </p:nvSpPr>
        <p:spPr>
          <a:xfrm>
            <a:off x="10972800" y="6437376"/>
            <a:ext cx="640080" cy="228600"/>
          </a:xfrm>
          <a:prstGeom prst="rect">
            <a:avLst/>
          </a:prstGeom>
          <a:noFill/>
        </p:spPr>
        <p:txBody>
          <a:bodyPr wrap="square" lIns="27432" tIns="18288" rIns="27432" bIns="18288">
            <a:spAutoFit/>
          </a:bodyPr>
          <a:lstStyle/>
          <a:p>
            <a:pPr algn="r"/>
            <a:r>
              <a:rPr sz="1000" b="1">
                <a:solidFill>
                  <a:srgbClr val="0099BE"/>
                </a:solidFill>
                <a:latin typeface="Aptos"/>
              </a:rPr>
              <a:t>09</a:t>
            </a:r>
          </a:p>
        </p:txBody>
      </p:sp>
      <p:sp>
        <p:nvSpPr>
          <p:cNvPr id="5" name="TextBox 4"/>
          <p:cNvSpPr txBox="1"/>
          <p:nvPr/>
        </p:nvSpPr>
        <p:spPr>
          <a:xfrm>
            <a:off x="621792" y="438912"/>
            <a:ext cx="10972800" cy="502920"/>
          </a:xfrm>
          <a:prstGeom prst="rect">
            <a:avLst/>
          </a:prstGeom>
          <a:noFill/>
        </p:spPr>
        <p:txBody>
          <a:bodyPr wrap="square" lIns="27432" tIns="18288" rIns="27432" bIns="18288">
            <a:spAutoFit/>
          </a:bodyPr>
          <a:lstStyle/>
          <a:p>
            <a:r>
              <a:rPr sz="2800" b="1">
                <a:solidFill>
                  <a:srgbClr val="0F213A"/>
                </a:solidFill>
                <a:latin typeface="Aptos"/>
              </a:rPr>
              <a:t>Key lessons &amp; references</a:t>
            </a:r>
          </a:p>
        </p:txBody>
      </p:sp>
      <p:sp>
        <p:nvSpPr>
          <p:cNvPr id="6" name="TextBox 5"/>
          <p:cNvSpPr txBox="1"/>
          <p:nvPr/>
        </p:nvSpPr>
        <p:spPr>
          <a:xfrm>
            <a:off x="640080" y="1024128"/>
            <a:ext cx="10972800" cy="320040"/>
          </a:xfrm>
          <a:prstGeom prst="rect">
            <a:avLst/>
          </a:prstGeom>
          <a:noFill/>
        </p:spPr>
        <p:txBody>
          <a:bodyPr wrap="square" lIns="27432" tIns="18288" rIns="27432" bIns="18288">
            <a:spAutoFit/>
          </a:bodyPr>
          <a:lstStyle/>
          <a:p>
            <a:r>
              <a:rPr sz="1500" b="1">
                <a:solidFill>
                  <a:srgbClr val="0099BE"/>
                </a:solidFill>
                <a:latin typeface="Aptos"/>
              </a:rPr>
              <a:t>Security is a lifecycle: prevent, detect, respond, recover</a:t>
            </a:r>
          </a:p>
        </p:txBody>
      </p:sp>
      <p:sp>
        <p:nvSpPr>
          <p:cNvPr id="7" name="TextBox 6"/>
          <p:cNvSpPr txBox="1"/>
          <p:nvPr/>
        </p:nvSpPr>
        <p:spPr>
          <a:xfrm>
            <a:off x="777240" y="1508760"/>
            <a:ext cx="10698480" cy="411480"/>
          </a:xfrm>
          <a:prstGeom prst="rect">
            <a:avLst/>
          </a:prstGeom>
          <a:noFill/>
        </p:spPr>
        <p:txBody>
          <a:bodyPr wrap="square" lIns="27432" tIns="18288" rIns="27432" bIns="18288">
            <a:spAutoFit/>
          </a:bodyPr>
          <a:lstStyle/>
          <a:p>
            <a:r>
              <a:rPr sz="1600" b="0">
                <a:solidFill>
                  <a:srgbClr val="25303D"/>
                </a:solidFill>
                <a:latin typeface="Aptos"/>
              </a:rPr>
              <a:t>•  Critical infrastructure can be attacked before public disclosure and before every branch has a complete fix.</a:t>
            </a:r>
          </a:p>
        </p:txBody>
      </p:sp>
      <p:sp>
        <p:nvSpPr>
          <p:cNvPr id="8" name="TextBox 7"/>
          <p:cNvSpPr txBox="1"/>
          <p:nvPr/>
        </p:nvSpPr>
        <p:spPr>
          <a:xfrm>
            <a:off x="777240" y="2011680"/>
            <a:ext cx="10698480" cy="411480"/>
          </a:xfrm>
          <a:prstGeom prst="rect">
            <a:avLst/>
          </a:prstGeom>
          <a:noFill/>
        </p:spPr>
        <p:txBody>
          <a:bodyPr wrap="square" lIns="27432" tIns="18288" rIns="27432" bIns="18288">
            <a:spAutoFit/>
          </a:bodyPr>
          <a:lstStyle/>
          <a:p>
            <a:r>
              <a:rPr sz="1600" b="0">
                <a:solidFill>
                  <a:srgbClr val="25303D"/>
                </a:solidFill>
                <a:latin typeface="Aptos"/>
              </a:rPr>
              <a:t>•  Input validation, safe deserialization, patch discipline, network segmentation and monitoring all matter.</a:t>
            </a:r>
          </a:p>
        </p:txBody>
      </p:sp>
      <p:sp>
        <p:nvSpPr>
          <p:cNvPr id="9" name="TextBox 8"/>
          <p:cNvSpPr txBox="1"/>
          <p:nvPr/>
        </p:nvSpPr>
        <p:spPr>
          <a:xfrm>
            <a:off x="777240" y="2514600"/>
            <a:ext cx="10698480" cy="411480"/>
          </a:xfrm>
          <a:prstGeom prst="rect">
            <a:avLst/>
          </a:prstGeom>
          <a:noFill/>
        </p:spPr>
        <p:txBody>
          <a:bodyPr wrap="square" lIns="27432" tIns="18288" rIns="27432" bIns="18288">
            <a:spAutoFit/>
          </a:bodyPr>
          <a:lstStyle/>
          <a:p>
            <a:r>
              <a:rPr sz="1600" b="0">
                <a:solidFill>
                  <a:srgbClr val="25303D"/>
                </a:solidFill>
                <a:latin typeface="Aptos"/>
              </a:rPr>
              <a:t>•  Use vendor advisories for exact affected versions and remediation; do not rely on headlines alone.</a:t>
            </a:r>
          </a:p>
        </p:txBody>
      </p:sp>
      <p:sp>
        <p:nvSpPr>
          <p:cNvPr id="10" name="TextBox 9"/>
          <p:cNvSpPr txBox="1"/>
          <p:nvPr/>
        </p:nvSpPr>
        <p:spPr>
          <a:xfrm>
            <a:off x="777240" y="3154680"/>
            <a:ext cx="10698480" cy="292608"/>
          </a:xfrm>
          <a:prstGeom prst="rect">
            <a:avLst/>
          </a:prstGeom>
          <a:noFill/>
        </p:spPr>
        <p:txBody>
          <a:bodyPr wrap="square" lIns="27432" tIns="18288" rIns="27432" bIns="18288">
            <a:spAutoFit/>
          </a:bodyPr>
          <a:lstStyle/>
          <a:p>
            <a:r>
              <a:rPr sz="1300" b="1">
                <a:solidFill>
                  <a:srgbClr val="0099BE"/>
                </a:solidFill>
                <a:latin typeface="Aptos"/>
              </a:rPr>
              <a:t>PRIMARY SOURCES</a:t>
            </a:r>
          </a:p>
        </p:txBody>
      </p:sp>
      <p:sp>
        <p:nvSpPr>
          <p:cNvPr id="11" name="TextBox 10"/>
          <p:cNvSpPr txBox="1"/>
          <p:nvPr/>
        </p:nvSpPr>
        <p:spPr>
          <a:xfrm>
            <a:off x="822960" y="3520440"/>
            <a:ext cx="10607040" cy="274320"/>
          </a:xfrm>
          <a:prstGeom prst="rect">
            <a:avLst/>
          </a:prstGeom>
          <a:noFill/>
        </p:spPr>
        <p:txBody>
          <a:bodyPr wrap="square" lIns="27432" tIns="18288" rIns="27432" bIns="18288">
            <a:spAutoFit/>
          </a:bodyPr>
          <a:lstStyle/>
          <a:p>
            <a:r>
              <a:rPr sz="1000" b="1">
                <a:solidFill>
                  <a:srgbClr val="0F213A"/>
                </a:solidFill>
                <a:latin typeface="Aptos"/>
              </a:rPr>
              <a:t>Amazon Security Blog (primary incident investigation, 12 Nov 2025)</a:t>
            </a:r>
          </a:p>
        </p:txBody>
      </p:sp>
      <p:sp>
        <p:nvSpPr>
          <p:cNvPr id="12" name="TextBox 11"/>
          <p:cNvSpPr txBox="1"/>
          <p:nvPr/>
        </p:nvSpPr>
        <p:spPr>
          <a:xfrm>
            <a:off x="822960" y="3721608"/>
            <a:ext cx="10607040" cy="274320"/>
          </a:xfrm>
          <a:prstGeom prst="rect">
            <a:avLst/>
          </a:prstGeom>
          <a:noFill/>
        </p:spPr>
        <p:txBody>
          <a:bodyPr wrap="square" lIns="27432" tIns="18288" rIns="27432" bIns="18288">
            <a:spAutoFit/>
          </a:bodyPr>
          <a:lstStyle/>
          <a:p>
            <a:r>
              <a:rPr sz="800" b="0">
                <a:solidFill>
                  <a:srgbClr val="5C6C7C"/>
                </a:solidFill>
                <a:latin typeface="Aptos"/>
              </a:rPr>
              <a:t>https://aws.amazon.com/blogs/security/amazon-discovers-apt-exploiting-cisco-and-citrix-zero-days/</a:t>
            </a:r>
          </a:p>
        </p:txBody>
      </p:sp>
      <p:sp>
        <p:nvSpPr>
          <p:cNvPr id="13" name="TextBox 12"/>
          <p:cNvSpPr txBox="1"/>
          <p:nvPr/>
        </p:nvSpPr>
        <p:spPr>
          <a:xfrm>
            <a:off x="822960" y="4041648"/>
            <a:ext cx="10607040" cy="274320"/>
          </a:xfrm>
          <a:prstGeom prst="rect">
            <a:avLst/>
          </a:prstGeom>
          <a:noFill/>
        </p:spPr>
        <p:txBody>
          <a:bodyPr wrap="square" lIns="27432" tIns="18288" rIns="27432" bIns="18288">
            <a:spAutoFit/>
          </a:bodyPr>
          <a:lstStyle/>
          <a:p>
            <a:r>
              <a:rPr sz="1000" b="1">
                <a:solidFill>
                  <a:srgbClr val="0F213A"/>
                </a:solidFill>
                <a:latin typeface="Aptos"/>
              </a:rPr>
              <a:t>Cisco Product Security Advisory: Cisco ISE unauthenticated RCE (CVE-2025-20337; updated 24 Jul 2025)</a:t>
            </a:r>
          </a:p>
        </p:txBody>
      </p:sp>
      <p:sp>
        <p:nvSpPr>
          <p:cNvPr id="14" name="TextBox 13"/>
          <p:cNvSpPr txBox="1"/>
          <p:nvPr/>
        </p:nvSpPr>
        <p:spPr>
          <a:xfrm>
            <a:off x="822960" y="4242816"/>
            <a:ext cx="10607040" cy="274320"/>
          </a:xfrm>
          <a:prstGeom prst="rect">
            <a:avLst/>
          </a:prstGeom>
          <a:noFill/>
        </p:spPr>
        <p:txBody>
          <a:bodyPr wrap="square" lIns="27432" tIns="18288" rIns="27432" bIns="18288">
            <a:spAutoFit/>
          </a:bodyPr>
          <a:lstStyle/>
          <a:p>
            <a:r>
              <a:rPr sz="800" b="0">
                <a:solidFill>
                  <a:srgbClr val="5C6C7C"/>
                </a:solidFill>
                <a:latin typeface="Aptos"/>
              </a:rPr>
              <a:t>https://www.cisco.com/c/en/us/support/docs/csa/cisco-sa-ise-unauth-rce-ZAd2GnJ6.html</a:t>
            </a:r>
          </a:p>
        </p:txBody>
      </p:sp>
      <p:sp>
        <p:nvSpPr>
          <p:cNvPr id="15" name="TextBox 14"/>
          <p:cNvSpPr txBox="1"/>
          <p:nvPr/>
        </p:nvSpPr>
        <p:spPr>
          <a:xfrm>
            <a:off x="822960" y="4562856"/>
            <a:ext cx="10607040" cy="274320"/>
          </a:xfrm>
          <a:prstGeom prst="rect">
            <a:avLst/>
          </a:prstGeom>
          <a:noFill/>
        </p:spPr>
        <p:txBody>
          <a:bodyPr wrap="square" lIns="27432" tIns="18288" rIns="27432" bIns="18288">
            <a:spAutoFit/>
          </a:bodyPr>
          <a:lstStyle/>
          <a:p>
            <a:r>
              <a:rPr sz="1000" b="1">
                <a:solidFill>
                  <a:srgbClr val="0F213A"/>
                </a:solidFill>
                <a:latin typeface="Aptos"/>
              </a:rPr>
              <a:t>Citrix/NetScaler Security Bulletin: CVE-2025-5777 and related vulnerabilities (17 Jun 2025)</a:t>
            </a:r>
          </a:p>
        </p:txBody>
      </p:sp>
      <p:sp>
        <p:nvSpPr>
          <p:cNvPr id="16" name="TextBox 15"/>
          <p:cNvSpPr txBox="1"/>
          <p:nvPr/>
        </p:nvSpPr>
        <p:spPr>
          <a:xfrm>
            <a:off x="822960" y="4764024"/>
            <a:ext cx="10607040" cy="274320"/>
          </a:xfrm>
          <a:prstGeom prst="rect">
            <a:avLst/>
          </a:prstGeom>
          <a:noFill/>
        </p:spPr>
        <p:txBody>
          <a:bodyPr wrap="square" lIns="27432" tIns="18288" rIns="27432" bIns="18288">
            <a:spAutoFit/>
          </a:bodyPr>
          <a:lstStyle/>
          <a:p>
            <a:r>
              <a:rPr sz="800" b="0">
                <a:solidFill>
                  <a:srgbClr val="5C6C7C"/>
                </a:solidFill>
                <a:latin typeface="Aptos"/>
              </a:rPr>
              <a:t>https://support.citrix.com/external/article/693420</a:t>
            </a:r>
          </a:p>
        </p:txBody>
      </p:sp>
      <p:sp>
        <p:nvSpPr>
          <p:cNvPr id="17" name="TextBox 16"/>
          <p:cNvSpPr txBox="1"/>
          <p:nvPr/>
        </p:nvSpPr>
        <p:spPr>
          <a:xfrm>
            <a:off x="822960" y="5084064"/>
            <a:ext cx="10607040" cy="274320"/>
          </a:xfrm>
          <a:prstGeom prst="rect">
            <a:avLst/>
          </a:prstGeom>
          <a:noFill/>
        </p:spPr>
        <p:txBody>
          <a:bodyPr wrap="square" lIns="27432" tIns="18288" rIns="27432" bIns="18288">
            <a:spAutoFit/>
          </a:bodyPr>
          <a:lstStyle/>
          <a:p>
            <a:r>
              <a:rPr sz="1000" b="1">
                <a:solidFill>
                  <a:srgbClr val="0F213A"/>
                </a:solidFill>
                <a:latin typeface="Aptos"/>
              </a:rPr>
              <a:t>NIST National Vulnerability Database: CVE-2025-5777</a:t>
            </a:r>
          </a:p>
        </p:txBody>
      </p:sp>
      <p:sp>
        <p:nvSpPr>
          <p:cNvPr id="18" name="TextBox 17"/>
          <p:cNvSpPr txBox="1"/>
          <p:nvPr/>
        </p:nvSpPr>
        <p:spPr>
          <a:xfrm>
            <a:off x="822960" y="5285232"/>
            <a:ext cx="10607040" cy="274320"/>
          </a:xfrm>
          <a:prstGeom prst="rect">
            <a:avLst/>
          </a:prstGeom>
          <a:noFill/>
        </p:spPr>
        <p:txBody>
          <a:bodyPr wrap="square" lIns="27432" tIns="18288" rIns="27432" bIns="18288">
            <a:spAutoFit/>
          </a:bodyPr>
          <a:lstStyle/>
          <a:p>
            <a:r>
              <a:rPr sz="800" b="0">
                <a:solidFill>
                  <a:srgbClr val="5C6C7C"/>
                </a:solidFill>
                <a:latin typeface="Aptos"/>
              </a:rPr>
              <a:t>https://nvd.nist.gov/vuln/detail/CVE-2025-5777</a:t>
            </a:r>
          </a:p>
        </p:txBody>
      </p:sp>
      <p:sp>
        <p:nvSpPr>
          <p:cNvPr id="19" name="TextBox 18"/>
          <p:cNvSpPr txBox="1"/>
          <p:nvPr/>
        </p:nvSpPr>
        <p:spPr>
          <a:xfrm>
            <a:off x="822960" y="5605272"/>
            <a:ext cx="10607040" cy="274320"/>
          </a:xfrm>
          <a:prstGeom prst="rect">
            <a:avLst/>
          </a:prstGeom>
          <a:noFill/>
        </p:spPr>
        <p:txBody>
          <a:bodyPr wrap="square" lIns="27432" tIns="18288" rIns="27432" bIns="18288">
            <a:spAutoFit/>
          </a:bodyPr>
          <a:lstStyle/>
          <a:p>
            <a:r>
              <a:rPr sz="1000" b="1">
                <a:solidFill>
                  <a:srgbClr val="0F213A"/>
                </a:solidFill>
                <a:latin typeface="Aptos"/>
              </a:rPr>
              <a:t>SecurityWeek reporting on Amazon's findings (13 Nov 2025)</a:t>
            </a:r>
          </a:p>
        </p:txBody>
      </p:sp>
      <p:sp>
        <p:nvSpPr>
          <p:cNvPr id="20" name="TextBox 19"/>
          <p:cNvSpPr txBox="1"/>
          <p:nvPr/>
        </p:nvSpPr>
        <p:spPr>
          <a:xfrm>
            <a:off x="822960" y="5806440"/>
            <a:ext cx="10607040" cy="274320"/>
          </a:xfrm>
          <a:prstGeom prst="rect">
            <a:avLst/>
          </a:prstGeom>
          <a:noFill/>
        </p:spPr>
        <p:txBody>
          <a:bodyPr wrap="square" lIns="27432" tIns="18288" rIns="27432" bIns="18288">
            <a:spAutoFit/>
          </a:bodyPr>
          <a:lstStyle/>
          <a:p>
            <a:r>
              <a:rPr sz="800" b="0">
                <a:solidFill>
                  <a:srgbClr val="5C6C7C"/>
                </a:solidFill>
                <a:latin typeface="Aptos"/>
              </a:rPr>
              <a:t>https://www.securityweek.com/cisco-ise-citrixbleed-2-vulnerabilities-exploited-as-zero-days-amazon/</a:t>
            </a:r>
          </a:p>
        </p:txBody>
      </p:sp>
      <p:sp>
        <p:nvSpPr>
          <p:cNvPr id="21" name="TextBox 20"/>
          <p:cNvSpPr txBox="1"/>
          <p:nvPr/>
        </p:nvSpPr>
        <p:spPr>
          <a:xfrm>
            <a:off x="777240" y="6144768"/>
            <a:ext cx="10789920" cy="201168"/>
          </a:xfrm>
          <a:prstGeom prst="rect">
            <a:avLst/>
          </a:prstGeom>
          <a:noFill/>
        </p:spPr>
        <p:txBody>
          <a:bodyPr wrap="square" lIns="27432" tIns="18288" rIns="27432" bIns="18288">
            <a:spAutoFit/>
          </a:bodyPr>
          <a:lstStyle/>
          <a:p>
            <a:r>
              <a:rPr sz="900" b="0">
                <a:solidFill>
                  <a:srgbClr val="5C6C7C"/>
                </a:solidFill>
                <a:latin typeface="Aptos"/>
              </a:rPr>
              <a:t>CS50 project instructions: https://cs50.harvard.edu/cybersecurity/project/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2389</Words>
  <Application>Microsoft Office PowerPoint</Application>
  <PresentationFormat>Widescreen</PresentationFormat>
  <Paragraphs>109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Shibu S</cp:lastModifiedBy>
  <cp:revision>3</cp:revision>
  <dcterms:created xsi:type="dcterms:W3CDTF">2013-01-27T09:14:16Z</dcterms:created>
  <dcterms:modified xsi:type="dcterms:W3CDTF">2026-10-16T05:13:56Z</dcterms:modified>
  <cp:category/>
</cp:coreProperties>
</file>